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sldIdLst>
    <p:sldId id="257" r:id="rId5"/>
    <p:sldId id="295" r:id="rId6"/>
    <p:sldId id="286" r:id="rId7"/>
    <p:sldId id="296" r:id="rId8"/>
    <p:sldId id="297" r:id="rId9"/>
    <p:sldId id="306" r:id="rId10"/>
    <p:sldId id="299" r:id="rId11"/>
    <p:sldId id="300" r:id="rId12"/>
    <p:sldId id="302" r:id="rId13"/>
    <p:sldId id="304" r:id="rId14"/>
    <p:sldId id="310" r:id="rId15"/>
    <p:sldId id="285" r:id="rId16"/>
    <p:sldId id="259" r:id="rId17"/>
    <p:sldId id="284" r:id="rId18"/>
    <p:sldId id="301" r:id="rId19"/>
    <p:sldId id="309" r:id="rId20"/>
    <p:sldId id="279" r:id="rId21"/>
    <p:sldId id="258" r:id="rId22"/>
    <p:sldId id="277" r:id="rId23"/>
    <p:sldId id="278" r:id="rId24"/>
    <p:sldId id="280" r:id="rId25"/>
    <p:sldId id="281" r:id="rId26"/>
    <p:sldId id="283" r:id="rId27"/>
    <p:sldId id="282" r:id="rId28"/>
    <p:sldId id="305" r:id="rId29"/>
    <p:sldId id="307" r:id="rId30"/>
    <p:sldId id="27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7732"/>
    <a:srgbClr val="D5A12C"/>
    <a:srgbClr val="7DA4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13"/>
    <p:restoredTop sz="94882"/>
  </p:normalViewPr>
  <p:slideViewPr>
    <p:cSldViewPr snapToGrid="0">
      <p:cViewPr>
        <p:scale>
          <a:sx n="100" d="100"/>
          <a:sy n="100" d="100"/>
        </p:scale>
        <p:origin x="3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grainfarmers.sharepoint.com/sites/Company_Data/Shared%20Documents/Government%20Relations/Sankalp's%20stuff/BRM/RMP/RMP%20-%20Payments%20liabilty%20and%20funds%20saved%20-%20July%20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grainfarmers.sharepoint.com/sites/Company_Data/Shared%20Documents/Government%20Relations/Sankalp's%20stuff/BRM/RMP/RMP%20-%20Payments%20liabilty%20and%20funds%20saved%20-%20July%202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grainfarmers.sharepoint.com/sites/Company_Data/Shared%20Documents/Government%20Relations/Sankalp's%20stuff/BRM/RMP/RMP%20-%20Payments%20liabilty%20and%20funds%20saved%20-%20July%202025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grainfarmers.sharepoint.com/sites/Company_Data/Shared%20Documents/Government%20Relations/Sankalp's%20stuff/BRM/US%20vs%20Canada%20-%20V2/OnvNE_V2jy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sz="1600" b="1" dirty="0"/>
              <a:t>RMP: G&amp;O Liability vs Payments -Prov</a:t>
            </a:r>
            <a:r>
              <a:rPr lang="en-CA" sz="1600" b="1" baseline="0" dirty="0"/>
              <a:t> + Fed</a:t>
            </a:r>
            <a:endParaRPr lang="en-CA" sz="1600" b="1" dirty="0"/>
          </a:p>
        </c:rich>
      </c:tx>
      <c:layout>
        <c:manualLayout>
          <c:xMode val="edge"/>
          <c:yMode val="edge"/>
          <c:x val="0.32137912553362291"/>
          <c:y val="5.780411955172945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Sheet2!$E$1</c:f>
              <c:strCache>
                <c:ptCount val="1"/>
                <c:pt idx="0">
                  <c:v>Liability (Prov + Fed)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12"/>
            <c:invertIfNegative val="0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6-45F5-9141-08F86BDF0B20}"/>
              </c:ext>
            </c:extLst>
          </c:dPt>
          <c:dLbls>
            <c:dLbl>
              <c:idx val="10"/>
              <c:layout>
                <c:manualLayout>
                  <c:x val="-1.1217199517501436E-2"/>
                  <c:y val="4.602794241133514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4C6-45F5-9141-08F86BDF0B20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44C6-45F5-9141-08F86BDF0B20}"/>
                </c:ext>
              </c:extLst>
            </c:dLbl>
            <c:dLbl>
              <c:idx val="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4C6-45F5-9141-08F86BDF0B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Sheet2!$B$2:$B$14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2025*</c:v>
                </c:pt>
              </c:strCache>
            </c:strRef>
          </c:cat>
          <c:val>
            <c:numRef>
              <c:f>Sheet2!$E$2:$E$14</c:f>
              <c:numCache>
                <c:formatCode>#,##0</c:formatCode>
                <c:ptCount val="13"/>
                <c:pt idx="0">
                  <c:v>235603422.5</c:v>
                </c:pt>
                <c:pt idx="1">
                  <c:v>178069535</c:v>
                </c:pt>
                <c:pt idx="2">
                  <c:v>92992817.5</c:v>
                </c:pt>
                <c:pt idx="3">
                  <c:v>203289972.5</c:v>
                </c:pt>
                <c:pt idx="4">
                  <c:v>146429992.5</c:v>
                </c:pt>
                <c:pt idx="5">
                  <c:v>125419130</c:v>
                </c:pt>
                <c:pt idx="6">
                  <c:v>168340745</c:v>
                </c:pt>
                <c:pt idx="7">
                  <c:v>220048755</c:v>
                </c:pt>
                <c:pt idx="8">
                  <c:v>425672.5</c:v>
                </c:pt>
                <c:pt idx="9">
                  <c:v>296620</c:v>
                </c:pt>
                <c:pt idx="10">
                  <c:v>443986350</c:v>
                </c:pt>
                <c:pt idx="11">
                  <c:v>678700232.5</c:v>
                </c:pt>
                <c:pt idx="12">
                  <c:v>635000000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4C6-45F5-9141-08F86BDF0B20}"/>
            </c:ext>
          </c:extLst>
        </c:ser>
        <c:ser>
          <c:idx val="1"/>
          <c:order val="1"/>
          <c:tx>
            <c:strRef>
              <c:f>Sheet2!$F$1</c:f>
              <c:strCache>
                <c:ptCount val="1"/>
                <c:pt idx="0">
                  <c:v>Payments (Prov + Fed) - historical funding model</c:v>
                </c:pt>
              </c:strCache>
            </c:strRef>
          </c:tx>
          <c:spPr>
            <a:pattFill prst="wd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12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4C6-45F5-9141-08F86BDF0B20}"/>
              </c:ext>
            </c:extLst>
          </c:dPt>
          <c:dLbls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44C6-45F5-9141-08F86BDF0B20}"/>
                </c:ext>
              </c:extLst>
            </c:dLbl>
            <c:dLbl>
              <c:idx val="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4C6-45F5-9141-08F86BDF0B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Sheet2!$B$2:$B$14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2025*</c:v>
                </c:pt>
              </c:strCache>
            </c:strRef>
          </c:cat>
          <c:val>
            <c:numRef>
              <c:f>Sheet2!$F$2:$F$14</c:f>
              <c:numCache>
                <c:formatCode>#,##0</c:formatCode>
                <c:ptCount val="13"/>
                <c:pt idx="0">
                  <c:v>96481517</c:v>
                </c:pt>
                <c:pt idx="1">
                  <c:v>112146300</c:v>
                </c:pt>
                <c:pt idx="2">
                  <c:v>85839000</c:v>
                </c:pt>
                <c:pt idx="3">
                  <c:v>85674000</c:v>
                </c:pt>
                <c:pt idx="4">
                  <c:v>85754000</c:v>
                </c:pt>
                <c:pt idx="5">
                  <c:v>85980906</c:v>
                </c:pt>
                <c:pt idx="6">
                  <c:v>85861698</c:v>
                </c:pt>
                <c:pt idx="7">
                  <c:v>129799281</c:v>
                </c:pt>
                <c:pt idx="8">
                  <c:v>425672.5</c:v>
                </c:pt>
                <c:pt idx="9">
                  <c:v>296620</c:v>
                </c:pt>
                <c:pt idx="10">
                  <c:v>443986350</c:v>
                </c:pt>
                <c:pt idx="11">
                  <c:v>241269776</c:v>
                </c:pt>
                <c:pt idx="12">
                  <c:v>181862500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4C6-45F5-9141-08F86BDF0B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6068207"/>
        <c:axId val="306556879"/>
      </c:barChart>
      <c:catAx>
        <c:axId val="726068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6556879"/>
        <c:crosses val="autoZero"/>
        <c:auto val="1"/>
        <c:lblAlgn val="ctr"/>
        <c:lblOffset val="100"/>
        <c:noMultiLvlLbl val="0"/>
      </c:catAx>
      <c:valAx>
        <c:axId val="306556879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068207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Sheet3!$N$1</c:f>
              <c:strCache>
                <c:ptCount val="1"/>
                <c:pt idx="0">
                  <c:v>Fed+Prov</c:v>
                </c:pt>
              </c:strCache>
            </c:strRef>
          </c:tx>
          <c:spPr>
            <a:pattFill prst="horzBrick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Sheet3!$G$2:$G$4</c:f>
              <c:strCache>
                <c:ptCount val="3"/>
                <c:pt idx="0">
                  <c:v>Corn </c:v>
                </c:pt>
                <c:pt idx="1">
                  <c:v>Soy </c:v>
                </c:pt>
                <c:pt idx="2">
                  <c:v>SRWW </c:v>
                </c:pt>
              </c:strCache>
            </c:strRef>
          </c:cat>
          <c:val>
            <c:numRef>
              <c:f>Sheet3!$N$2:$N$4</c:f>
              <c:numCache>
                <c:formatCode>0.00</c:formatCode>
                <c:ptCount val="3"/>
                <c:pt idx="0">
                  <c:v>86.999999999999972</c:v>
                </c:pt>
                <c:pt idx="1">
                  <c:v>66.815999999999974</c:v>
                </c:pt>
                <c:pt idx="2">
                  <c:v>96.047999999999959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DB-4C5A-929B-88CA6166D386}"/>
            </c:ext>
          </c:extLst>
        </c:ser>
        <c:ser>
          <c:idx val="1"/>
          <c:order val="1"/>
          <c:tx>
            <c:strRef>
              <c:f>Sheet3!$J$1</c:f>
              <c:strCache>
                <c:ptCount val="1"/>
                <c:pt idx="0">
                  <c:v>Prov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Sheet3!$G$2:$G$4</c:f>
              <c:strCache>
                <c:ptCount val="3"/>
                <c:pt idx="0">
                  <c:v>Corn </c:v>
                </c:pt>
                <c:pt idx="1">
                  <c:v>Soy </c:v>
                </c:pt>
                <c:pt idx="2">
                  <c:v>SRWW </c:v>
                </c:pt>
              </c:strCache>
            </c:strRef>
          </c:cat>
          <c:val>
            <c:numRef>
              <c:f>Sheet3!$J$2:$J$4</c:f>
              <c:numCache>
                <c:formatCode>#,##0.00</c:formatCode>
                <c:ptCount val="3"/>
                <c:pt idx="0">
                  <c:v>34.799999999999983</c:v>
                </c:pt>
                <c:pt idx="1">
                  <c:v>26.726399999999995</c:v>
                </c:pt>
                <c:pt idx="2">
                  <c:v>38.419199999999989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DB-4C5A-929B-88CA6166D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31642911"/>
        <c:axId val="831649151"/>
      </c:barChart>
      <c:catAx>
        <c:axId val="8316429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1649151"/>
        <c:crosses val="autoZero"/>
        <c:auto val="1"/>
        <c:lblAlgn val="ctr"/>
        <c:lblOffset val="100"/>
        <c:noMultiLvlLbl val="0"/>
      </c:catAx>
      <c:valAx>
        <c:axId val="831649151"/>
        <c:scaling>
          <c:orientation val="minMax"/>
        </c:scaling>
        <c:delete val="1"/>
        <c:axPos val="b"/>
        <c:numFmt formatCode="0.00" sourceLinked="1"/>
        <c:majorTickMark val="none"/>
        <c:minorTickMark val="none"/>
        <c:tickLblPos val="nextTo"/>
        <c:crossAx val="831642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dirty="0"/>
              <a:t>RMP: Liability vs Payments - </a:t>
            </a:r>
            <a:r>
              <a:rPr lang="en-CA" b="1" dirty="0"/>
              <a:t>Actual</a:t>
            </a:r>
            <a:r>
              <a:rPr lang="en-CA" dirty="0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Sheet2!$C$1</c:f>
              <c:strCache>
                <c:ptCount val="1"/>
                <c:pt idx="0">
                  <c:v>Liability (actual)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12"/>
            <c:invertIfNegative val="0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846-45CD-99E8-648297E5D90F}"/>
              </c:ext>
            </c:extLst>
          </c:dPt>
          <c:dLbls>
            <c:dLbl>
              <c:idx val="10"/>
              <c:layout>
                <c:manualLayout>
                  <c:x val="-1.0488365553399614E-2"/>
                  <c:y val="-7.6747748931381988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846-45CD-99E8-648297E5D9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Sheet2!$B$2:$B$14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2025*</c:v>
                </c:pt>
              </c:strCache>
            </c:strRef>
          </c:cat>
          <c:val>
            <c:numRef>
              <c:f>Sheet2!$C$2:$C$14</c:f>
              <c:numCache>
                <c:formatCode>#,##0</c:formatCode>
                <c:ptCount val="13"/>
                <c:pt idx="0">
                  <c:v>94241369</c:v>
                </c:pt>
                <c:pt idx="1">
                  <c:v>71227814</c:v>
                </c:pt>
                <c:pt idx="2">
                  <c:v>37197127</c:v>
                </c:pt>
                <c:pt idx="3">
                  <c:v>81315989</c:v>
                </c:pt>
                <c:pt idx="4">
                  <c:v>58571997</c:v>
                </c:pt>
                <c:pt idx="5">
                  <c:v>50167652</c:v>
                </c:pt>
                <c:pt idx="6">
                  <c:v>67336298</c:v>
                </c:pt>
                <c:pt idx="7">
                  <c:v>88019502</c:v>
                </c:pt>
                <c:pt idx="8">
                  <c:v>170269</c:v>
                </c:pt>
                <c:pt idx="9">
                  <c:v>118648</c:v>
                </c:pt>
                <c:pt idx="10">
                  <c:v>177594540</c:v>
                </c:pt>
                <c:pt idx="11">
                  <c:v>271480093</c:v>
                </c:pt>
                <c:pt idx="12">
                  <c:v>254000000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46-45CD-99E8-648297E5D90F}"/>
            </c:ext>
          </c:extLst>
        </c:ser>
        <c:ser>
          <c:idx val="1"/>
          <c:order val="1"/>
          <c:tx>
            <c:strRef>
              <c:f>Sheet2!$D$1</c:f>
              <c:strCache>
                <c:ptCount val="1"/>
                <c:pt idx="0">
                  <c:v>Original payments</c:v>
                </c:pt>
              </c:strCache>
            </c:strRef>
          </c:tx>
          <c:spPr>
            <a:pattFill prst="wd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12"/>
            <c:invertIfNegative val="0"/>
            <c:bubble3D val="0"/>
            <c:spPr>
              <a:pattFill prst="wdUpDiag">
                <a:fgClr>
                  <a:schemeClr val="tx1">
                    <a:lumMod val="95000"/>
                    <a:lumOff val="5000"/>
                  </a:schemeClr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846-45CD-99E8-648297E5D90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Sheet2!$B$2:$B$14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2025*</c:v>
                </c:pt>
              </c:strCache>
            </c:strRef>
          </c:cat>
          <c:val>
            <c:numRef>
              <c:f>Sheet2!$D$2:$D$14</c:f>
              <c:numCache>
                <c:formatCode>#,##0</c:formatCode>
                <c:ptCount val="13"/>
                <c:pt idx="0">
                  <c:v>43981517</c:v>
                </c:pt>
                <c:pt idx="1">
                  <c:v>59646300</c:v>
                </c:pt>
                <c:pt idx="2">
                  <c:v>33339000</c:v>
                </c:pt>
                <c:pt idx="3">
                  <c:v>33174000</c:v>
                </c:pt>
                <c:pt idx="4">
                  <c:v>33254000</c:v>
                </c:pt>
                <c:pt idx="5">
                  <c:v>33480906</c:v>
                </c:pt>
                <c:pt idx="6">
                  <c:v>33361698</c:v>
                </c:pt>
                <c:pt idx="7">
                  <c:v>51049281</c:v>
                </c:pt>
                <c:pt idx="8">
                  <c:v>170269</c:v>
                </c:pt>
                <c:pt idx="9">
                  <c:v>118648</c:v>
                </c:pt>
                <c:pt idx="10">
                  <c:v>177594540</c:v>
                </c:pt>
                <c:pt idx="11">
                  <c:v>94664880</c:v>
                </c:pt>
                <c:pt idx="12">
                  <c:v>78700000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846-45CD-99E8-648297E5D9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6068207"/>
        <c:axId val="306556879"/>
      </c:barChart>
      <c:catAx>
        <c:axId val="726068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6556879"/>
        <c:crosses val="autoZero"/>
        <c:auto val="1"/>
        <c:lblAlgn val="ctr"/>
        <c:lblOffset val="100"/>
        <c:noMultiLvlLbl val="0"/>
      </c:catAx>
      <c:valAx>
        <c:axId val="306556879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068207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dirty="0"/>
              <a:t>How much more does a US producer earn relative to Canadian (ON) corn</a:t>
            </a:r>
            <a:r>
              <a:rPr lang="en-CA" baseline="0" dirty="0"/>
              <a:t> </a:t>
            </a:r>
            <a:r>
              <a:rPr lang="en-CA" dirty="0"/>
              <a:t>producer?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7E2-4308-86E8-BF452D1A1AC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Main!$H$58:$J$58</c:f>
              <c:strCache>
                <c:ptCount val="3"/>
                <c:pt idx="0">
                  <c:v>Normal yield, low price</c:v>
                </c:pt>
                <c:pt idx="1">
                  <c:v>Low yield, low price</c:v>
                </c:pt>
                <c:pt idx="2">
                  <c:v>Normal yield, high price</c:v>
                </c:pt>
              </c:strCache>
            </c:strRef>
          </c:cat>
          <c:val>
            <c:numRef>
              <c:f>Main!$H$59:$J$59</c:f>
              <c:numCache>
                <c:formatCode>General</c:formatCode>
                <c:ptCount val="3"/>
                <c:pt idx="0">
                  <c:v>150.66</c:v>
                </c:pt>
                <c:pt idx="1">
                  <c:v>247.64</c:v>
                </c:pt>
                <c:pt idx="2">
                  <c:v>43.26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E2-4308-86E8-BF452D1A1A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63679312"/>
        <c:axId val="63681232"/>
      </c:barChart>
      <c:catAx>
        <c:axId val="636793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81232"/>
        <c:crosses val="autoZero"/>
        <c:auto val="1"/>
        <c:lblAlgn val="ctr"/>
        <c:lblOffset val="100"/>
        <c:noMultiLvlLbl val="0"/>
      </c:catAx>
      <c:valAx>
        <c:axId val="636812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679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0.14257</cdr:x>
      <cdr:y>0.15476</cdr:y>
    </cdr:from>
    <cdr:to>
      <cdr:x>0.62112</cdr:x>
      <cdr:y>0.48897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69B2884-6620-2CD5-4634-3F7AD0348863}"/>
            </a:ext>
          </a:extLst>
        </cdr:cNvPr>
        <cdr:cNvSpPr txBox="1"/>
      </cdr:nvSpPr>
      <cdr:spPr>
        <a:xfrm xmlns:a="http://schemas.openxmlformats.org/drawingml/2006/main">
          <a:off x="1554788" y="680046"/>
          <a:ext cx="5218545" cy="14685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marL="171450" indent="-171450">
            <a:buFontTx/>
            <a:buChar char="-"/>
          </a:pPr>
          <a:r>
            <a:rPr lang="en-US" sz="1100" kern="1200" dirty="0"/>
            <a:t>This chart compares historical </a:t>
          </a:r>
          <a:r>
            <a:rPr lang="en-US" sz="1100" b="1" kern="1200" dirty="0"/>
            <a:t>actual</a:t>
          </a:r>
          <a:r>
            <a:rPr lang="en-US" sz="1100" kern="1200" dirty="0"/>
            <a:t> liabilities with historical </a:t>
          </a:r>
          <a:r>
            <a:rPr lang="en-US" sz="1100" b="1" kern="1200" dirty="0"/>
            <a:t>actual</a:t>
          </a:r>
          <a:r>
            <a:rPr lang="en-US" sz="1100" kern="1200" dirty="0"/>
            <a:t> liabilities.</a:t>
          </a:r>
        </a:p>
        <a:p xmlns:a="http://schemas.openxmlformats.org/drawingml/2006/main">
          <a:pPr marL="171450" indent="-171450">
            <a:buFontTx/>
            <a:buChar char="-"/>
          </a:pPr>
          <a:r>
            <a:rPr lang="en-US" kern="1200" dirty="0"/>
            <a:t>The 2025 year is a projection based on current price levels. </a:t>
          </a:r>
        </a:p>
        <a:p xmlns:a="http://schemas.openxmlformats.org/drawingml/2006/main">
          <a:pPr marL="171450" indent="-171450">
            <a:buFontTx/>
            <a:buChar char="-"/>
          </a:pPr>
          <a:r>
            <a:rPr lang="en-US" sz="1100" kern="1200" dirty="0"/>
            <a:t>Prior to 2021 – premiums were part of the FRMPF, hence those distributions </a:t>
          </a:r>
          <a:r>
            <a:rPr lang="en-US" sz="1100" b="1" kern="1200" dirty="0"/>
            <a:t>are not included </a:t>
          </a:r>
          <a:r>
            <a:rPr lang="en-US" sz="1100" kern="1200" dirty="0"/>
            <a:t>in the chart.</a:t>
          </a:r>
        </a:p>
        <a:p xmlns:a="http://schemas.openxmlformats.org/drawingml/2006/main">
          <a:pPr marL="171450" indent="-171450">
            <a:buFontTx/>
            <a:buChar char="-"/>
          </a:pPr>
          <a:r>
            <a:rPr lang="en-US" kern="1200" dirty="0"/>
            <a:t>Post 2020: the producers premiums were able to be saved with the govt allocation and is part of how proration is calculated.</a:t>
          </a:r>
          <a:endParaRPr lang="en-CA" sz="11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BAAF4-A213-C04E-9417-10F6724CAE4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FFB43-CEF4-8847-8F21-F0CD717F9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58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FFB43-CEF4-8847-8F21-F0CD717F9F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10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1DBE2-80B2-718F-308E-E6D68613A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E9E10-2A8F-6EF6-54F1-DAB09F01B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0D587-66E3-3E90-FC9B-1322CA6D6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66E3B-A008-225E-E92E-A208D6FC9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AA24C-120A-4AAD-5DB8-7BCE1EF5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1EAE-60F1-6095-F326-98A4AA5DC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1B516-351D-8BF6-5B0A-CC09E8961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CF82E-7A3C-B277-FFB0-7202A6CDE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84D67-D192-C094-022F-E61C12E68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AC5DD-7155-5C92-6304-B1CEA764A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8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41D7-9F6D-624C-85EC-8AD1A756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2C06-76B3-E3CE-0B87-BA81C0497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A7349-8E9A-61BC-23E9-E1B832E7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D1321-C3C3-65B8-65E0-1E8BF330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6B098-8FBA-62BE-0472-40B9284F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5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5DC0-FF1A-16C3-2F73-41E50F9FB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79101-6700-F5A3-26A0-BE625A3A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5D039-6C0D-7DF4-A54D-A4E695B00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7248D-5F08-8222-E224-0D364C3A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0A2EF-3096-AD89-3454-0C4654CB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CF370-8557-79A7-012A-A0F7D16AE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23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9926-1EEF-CF3C-F06C-C335298D0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F7E66-7F0E-364F-2FEF-025BBB5FE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2A9F8-5FFE-97A8-807F-176F149CB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FDE40-D53B-F9CF-8286-A94223EE4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ED47B-6BB2-DF62-4055-52CEBF6648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F40EC-E386-21BE-2F59-0799930E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4E1DC-0B1A-C71A-4C96-531F1E90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69C3AE-534E-DC0C-083C-26A1502F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16B0-9201-0429-BFEB-BE0ED652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699BE4-0453-7960-EE21-DF736B42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BF624-045A-04D8-4147-3264D77A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CC06B-8D0A-7AC0-AFBD-418E34C6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3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02B8F2-1CE2-1193-FFCE-9CA74796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130EB-CE03-CC0A-CC6E-D44F42C5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63177-F43F-0D78-612B-206344ABD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3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0794-5C7D-2843-D0FD-A5565B44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A9F26-8656-019C-2F97-FB445B23E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BCCF3-A863-3467-95A1-5065E4F4D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3FD75-97B2-BBA1-657F-B0C3551C3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6B04-A9A4-1DAF-3ECC-CE1391601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C6889-1F56-2115-A06F-6A56E01A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C1333-B364-0EAA-E9A9-0BA23B6A0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0FDF7-DA9C-2D6E-177F-C3B5B28FC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BD0FE-8507-C987-F7BE-10EB34065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D38FE-CD8E-4E28-B003-C1961E45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670CE-9BB9-BCBB-2A75-23AF924BC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627BB-9429-9200-B4ED-A362E337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6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5536D-83EE-A81C-07C6-16628185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FEDB3-6B66-8AF5-2034-4EE07A0A4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B2136-ACD5-7BAC-F944-62AA91C97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E831F-44AC-5261-B01C-9B23C091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CF18F-605F-AACE-39CD-EAB4D7EE4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3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FAD50D-A1ED-941A-3942-D3DF0E47F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6BCBA-E521-6B7D-820F-315740899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CCBDC-C6D3-16CE-B4A2-B371DB2D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DBD74-E190-C2F1-680A-85CBE9DCB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CC243-9166-0976-790A-CFBD2F25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6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BCD3F8-689A-6E03-A418-0D100EE1A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607DD-B20F-3F4C-AC71-6DFDE7841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C0268-44F4-CDCC-75CB-F9DD9A1B9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36363-9A36-B944-88C4-1DDD8D45354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A0029-AA4E-4070-50EA-3A5B1DF4D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1FBC1-6002-2DF2-1B15-C99F08E66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092CB-7C22-F749-BC71-FD024F42C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84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or.org/stable/26758653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armdocdaily.illinois.edu/2020/06/mfp-and-cfap-payments-corn-and-soybean-uses-and-future-farm-profitability.html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igitalcommons.unl.edu/cgi/viewcontent.cgi?article=2057&amp;context=agecon_cornhusker" TargetMode="External"/><Relationship Id="rId5" Type="http://schemas.openxmlformats.org/officeDocument/2006/relationships/hyperlink" Target="https://www.agmanager.info/sites/default/files/pdf/WWW_AmericanReliefAct_01-29-25.pdf" TargetMode="External"/><Relationship Id="rId4" Type="http://schemas.openxmlformats.org/officeDocument/2006/relationships/hyperlink" Target="https://www.jstor.org/stable/27098564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sa.usda.gov/sites/default/files/2025-09/FSA_ARC%20%26%20PLC_3pg_Fact%20Sheet-SEPT%202025_final.pdf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sa.usda.gov/resources/programs/arc-plc/program-data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olicydesignlab.ncsa.illinois.edu/policy-lab/proposal-analysis/arc-plc-payments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ndsu.edu/agriculture/ag-hub/ag-topics/crop-production/tools/arc-plc-payment-calculator" TargetMode="External"/><Relationship Id="rId4" Type="http://schemas.openxmlformats.org/officeDocument/2006/relationships/hyperlink" Target="https://www.extension.iastate.edu/agdm/crops/xls/a1-33farmbilldata.xlsx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8351BFB-A5E2-6210-142B-B518945162A0}"/>
              </a:ext>
            </a:extLst>
          </p:cNvPr>
          <p:cNvSpPr/>
          <p:nvPr/>
        </p:nvSpPr>
        <p:spPr>
          <a:xfrm flipV="1">
            <a:off x="-2" y="0"/>
            <a:ext cx="12192002" cy="6858000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970033-E459-C3A0-9C21-BFF860719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217" y="1323605"/>
            <a:ext cx="1845567" cy="1845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265C0C-74A7-C191-B7BA-66CF7668B400}"/>
              </a:ext>
            </a:extLst>
          </p:cNvPr>
          <p:cNvSpPr txBox="1"/>
          <p:nvPr/>
        </p:nvSpPr>
        <p:spPr>
          <a:xfrm>
            <a:off x="1707084" y="3303751"/>
            <a:ext cx="8777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InterstateCondensed" pitchFamily="2" charset="77"/>
              </a:rPr>
              <a:t>BRM Committee Meeting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A3260-D7DD-7187-1FB3-59820BC2F830}"/>
              </a:ext>
            </a:extLst>
          </p:cNvPr>
          <p:cNvSpPr txBox="1"/>
          <p:nvPr/>
        </p:nvSpPr>
        <p:spPr>
          <a:xfrm>
            <a:off x="3845859" y="4444663"/>
            <a:ext cx="4500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InterstateCondensed Light" pitchFamily="2" charset="77"/>
              </a:rPr>
              <a:t>Thursday, Oct 9 – 2025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InterstateCondensed Light" pitchFamily="2" charset="77"/>
              </a:rPr>
              <a:t>11.00 am – 1 pm. </a:t>
            </a:r>
          </a:p>
        </p:txBody>
      </p:sp>
    </p:spTree>
    <p:extLst>
      <p:ext uri="{BB962C8B-B14F-4D97-AF65-F5344CB8AC3E}">
        <p14:creationId xmlns:p14="http://schemas.microsoft.com/office/powerpoint/2010/main" val="265925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B2CA-4E6E-B668-4A59-7129D66D0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6403BD0-64C0-16B9-6898-AB9E8D32C2EE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62E795-7F43-0F2F-75A9-525B403DDFB8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542F1-B711-4B1F-90D0-3848210C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6E3422-8FE4-1C97-7E70-6A513DF57CF9}"/>
              </a:ext>
            </a:extLst>
          </p:cNvPr>
          <p:cNvSpPr txBox="1"/>
          <p:nvPr/>
        </p:nvSpPr>
        <p:spPr>
          <a:xfrm>
            <a:off x="837600" y="269993"/>
            <a:ext cx="11062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InterstateCondensed" pitchFamily="2" charset="77"/>
              </a:rPr>
              <a:t>RMP Formula: </a:t>
            </a:r>
            <a:br>
              <a:rPr lang="en-US" sz="3600" b="1" dirty="0">
                <a:latin typeface="InterstateCondensed" pitchFamily="2" charset="77"/>
              </a:rPr>
            </a:br>
            <a:r>
              <a:rPr lang="en-US" sz="3600" b="1" dirty="0">
                <a:latin typeface="InterstateCondensed" pitchFamily="2" charset="77"/>
              </a:rPr>
              <a:t>Current liability calculation with Provincial support only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5E7F32-70C8-9381-90AE-309FF03BE7E0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43122B-07EA-784E-9633-9ADB2C7E779E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64E147-59B9-5428-D16B-90E2073FD814}"/>
                  </a:ext>
                </a:extLst>
              </p:cNvPr>
              <p:cNvSpPr txBox="1"/>
              <p:nvPr/>
            </p:nvSpPr>
            <p:spPr>
              <a:xfrm>
                <a:off x="4163568" y="2261101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64E147-59B9-5428-D16B-90E2073FD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568" y="2261101"/>
                <a:ext cx="211596" cy="276999"/>
              </a:xfrm>
              <a:prstGeom prst="rect">
                <a:avLst/>
              </a:prstGeom>
              <a:blipFill>
                <a:blip r:embed="rId3"/>
                <a:stretch>
                  <a:fillRect l="-20000" r="-20000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750EA40-D2B9-F882-2EB5-35A367A710BC}"/>
                  </a:ext>
                </a:extLst>
              </p:cNvPr>
              <p:cNvSpPr/>
              <p:nvPr/>
            </p:nvSpPr>
            <p:spPr>
              <a:xfrm>
                <a:off x="618744" y="1850961"/>
                <a:ext cx="3310128" cy="10972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𝑆𝑢𝑝𝑝𝑜𝑟𝑡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𝑙𝑒𝑣𝑒𝑙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𝐴𝑣𝑔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𝑃𝑟𝑖𝑐𝑒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750EA40-D2B9-F882-2EB5-35A367A71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44" y="1850961"/>
                <a:ext cx="3310128" cy="109728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7E8BC48-9CE9-FB27-EE7E-5903569BFF69}"/>
              </a:ext>
            </a:extLst>
          </p:cNvPr>
          <p:cNvSpPr/>
          <p:nvPr/>
        </p:nvSpPr>
        <p:spPr>
          <a:xfrm>
            <a:off x="4550664" y="1850961"/>
            <a:ext cx="1143000" cy="10972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0.40</a:t>
            </a:r>
            <a:endParaRPr lang="en-CA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EB935C-30D7-A2ED-4A10-16F18F3332B2}"/>
                  </a:ext>
                </a:extLst>
              </p:cNvPr>
              <p:cNvSpPr txBox="1"/>
              <p:nvPr/>
            </p:nvSpPr>
            <p:spPr>
              <a:xfrm>
                <a:off x="5934456" y="2261101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EB935C-30D7-A2ED-4A10-16F18F333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456" y="2261101"/>
                <a:ext cx="211596" cy="276999"/>
              </a:xfrm>
              <a:prstGeom prst="rect">
                <a:avLst/>
              </a:prstGeom>
              <a:blipFill>
                <a:blip r:embed="rId5"/>
                <a:stretch>
                  <a:fillRect l="-20588" r="-20588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F52A0A5-74B1-9569-3EEF-CD418657B83C}"/>
              </a:ext>
            </a:extLst>
          </p:cNvPr>
          <p:cNvSpPr/>
          <p:nvPr/>
        </p:nvSpPr>
        <p:spPr>
          <a:xfrm>
            <a:off x="6386844" y="1850960"/>
            <a:ext cx="1437372" cy="10972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Proration, </a:t>
            </a:r>
          </a:p>
          <a:p>
            <a:pPr algn="ctr"/>
            <a:r>
              <a:rPr lang="en-US" b="1" i="1" dirty="0"/>
              <a:t>If any</a:t>
            </a:r>
            <a:endParaRPr lang="en-CA" b="1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D2D607-85A1-B2DF-6D0B-DC7F0685C97F}"/>
                  </a:ext>
                </a:extLst>
              </p:cNvPr>
              <p:cNvSpPr txBox="1"/>
              <p:nvPr/>
            </p:nvSpPr>
            <p:spPr>
              <a:xfrm>
                <a:off x="8065008" y="2261101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D2D607-85A1-B2DF-6D0B-DC7F0685C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008" y="2261101"/>
                <a:ext cx="211596" cy="276999"/>
              </a:xfrm>
              <a:prstGeom prst="rect">
                <a:avLst/>
              </a:prstGeom>
              <a:blipFill>
                <a:blip r:embed="rId3"/>
                <a:stretch>
                  <a:fillRect l="-20000" r="-20000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7178270-7AE4-5F5E-595A-72C18912A415}"/>
              </a:ext>
            </a:extLst>
          </p:cNvPr>
          <p:cNvSpPr/>
          <p:nvPr/>
        </p:nvSpPr>
        <p:spPr>
          <a:xfrm>
            <a:off x="8517396" y="1850960"/>
            <a:ext cx="1437372" cy="10972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No. of bushels</a:t>
            </a:r>
            <a:endParaRPr lang="en-CA" i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2E743C0-3FD2-F67C-0F47-F42B568D1F71}"/>
              </a:ext>
            </a:extLst>
          </p:cNvPr>
          <p:cNvCxnSpPr/>
          <p:nvPr/>
        </p:nvCxnSpPr>
        <p:spPr>
          <a:xfrm flipV="1">
            <a:off x="1098570" y="2674872"/>
            <a:ext cx="0" cy="1033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01FF602-1D7B-E90F-EEC6-E0B6990A3151}"/>
              </a:ext>
            </a:extLst>
          </p:cNvPr>
          <p:cNvSpPr txBox="1"/>
          <p:nvPr/>
        </p:nvSpPr>
        <p:spPr>
          <a:xfrm>
            <a:off x="156743" y="3726432"/>
            <a:ext cx="203910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cost of production </a:t>
            </a:r>
            <a:r>
              <a:rPr lang="en-US" dirty="0"/>
              <a:t>per </a:t>
            </a:r>
            <a:r>
              <a:rPr lang="en-US" dirty="0" err="1"/>
              <a:t>bu</a:t>
            </a:r>
            <a:r>
              <a:rPr lang="en-US" dirty="0"/>
              <a:t> of a commodity</a:t>
            </a:r>
            <a:endParaRPr lang="en-CA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B9DE0C4-3669-CF0E-D987-519C02E45CA0}"/>
              </a:ext>
            </a:extLst>
          </p:cNvPr>
          <p:cNvCxnSpPr/>
          <p:nvPr/>
        </p:nvCxnSpPr>
        <p:spPr>
          <a:xfrm flipV="1">
            <a:off x="2741442" y="2674872"/>
            <a:ext cx="0" cy="1033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D9C4BC7-D992-3D92-81D4-62B1769D7283}"/>
              </a:ext>
            </a:extLst>
          </p:cNvPr>
          <p:cNvSpPr txBox="1"/>
          <p:nvPr/>
        </p:nvSpPr>
        <p:spPr>
          <a:xfrm>
            <a:off x="2326913" y="3726432"/>
            <a:ext cx="204825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avg. six-month price for the main commodities: corn, soybean and wheat – each period: pre-harvest and post-harvest</a:t>
            </a:r>
            <a:endParaRPr lang="en-CA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0FFBDD5-52D9-4EE1-5C1B-E5C4AE34F778}"/>
              </a:ext>
            </a:extLst>
          </p:cNvPr>
          <p:cNvCxnSpPr>
            <a:cxnSpLocks/>
          </p:cNvCxnSpPr>
          <p:nvPr/>
        </p:nvCxnSpPr>
        <p:spPr>
          <a:xfrm flipV="1">
            <a:off x="5231569" y="3039681"/>
            <a:ext cx="0" cy="686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816E9A-A311-880C-CE87-F0C3FC7D35CC}"/>
                  </a:ext>
                </a:extLst>
              </p:cNvPr>
              <p:cNvSpPr txBox="1"/>
              <p:nvPr/>
            </p:nvSpPr>
            <p:spPr>
              <a:xfrm>
                <a:off x="10176390" y="2261100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816E9A-A311-880C-CE87-F0C3FC7D3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6390" y="2261100"/>
                <a:ext cx="211596" cy="276999"/>
              </a:xfrm>
              <a:prstGeom prst="rect">
                <a:avLst/>
              </a:prstGeom>
              <a:blipFill>
                <a:blip r:embed="rId6"/>
                <a:stretch>
                  <a:fillRect l="-20000" r="-20000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1A46F065-F496-2CF8-1EA0-7AEBCF0FC41A}"/>
                  </a:ext>
                </a:extLst>
              </p:cNvPr>
              <p:cNvSpPr/>
              <p:nvPr/>
            </p:nvSpPr>
            <p:spPr>
              <a:xfrm>
                <a:off x="10609608" y="1850959"/>
                <a:ext cx="1143000" cy="10972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A" i="1" dirty="0"/>
              </a:p>
            </p:txBody>
          </p:sp>
        </mc:Choice>
        <mc:Fallback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1A46F065-F496-2CF8-1EA0-7AEBCF0FC4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608" y="1850959"/>
                <a:ext cx="1143000" cy="109728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626C37A-5B58-E605-0819-2CF6360A9FC2}"/>
              </a:ext>
            </a:extLst>
          </p:cNvPr>
          <p:cNvSpPr txBox="1"/>
          <p:nvPr/>
        </p:nvSpPr>
        <p:spPr>
          <a:xfrm>
            <a:off x="4506229" y="3726432"/>
            <a:ext cx="1736906" cy="923330"/>
          </a:xfrm>
          <a:prstGeom prst="rect">
            <a:avLst/>
          </a:prstGeom>
          <a:noFill/>
          <a:ln w="79375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Provincial support capped at </a:t>
            </a:r>
            <a:r>
              <a:rPr lang="en-US" b="1" dirty="0"/>
              <a:t>40%</a:t>
            </a:r>
            <a:endParaRPr lang="en-CA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91F780-91C8-F81D-83D8-FCB31507DC09}"/>
              </a:ext>
            </a:extLst>
          </p:cNvPr>
          <p:cNvSpPr txBox="1"/>
          <p:nvPr/>
        </p:nvSpPr>
        <p:spPr>
          <a:xfrm>
            <a:off x="6407266" y="3726432"/>
            <a:ext cx="1736906" cy="2031325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a </a:t>
            </a:r>
            <a:r>
              <a:rPr lang="en-US" b="1" dirty="0"/>
              <a:t>ratio</a:t>
            </a:r>
            <a:r>
              <a:rPr lang="en-US" dirty="0"/>
              <a:t> of total funding available to the total liability generated – </a:t>
            </a:r>
            <a:r>
              <a:rPr lang="en-US" b="1" i="1" dirty="0"/>
              <a:t>expressed as a percentage</a:t>
            </a:r>
            <a:endParaRPr lang="en-CA" b="1" i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8925B9-F1BD-0F85-0044-E6D85D1A2F5A}"/>
              </a:ext>
            </a:extLst>
          </p:cNvPr>
          <p:cNvCxnSpPr>
            <a:cxnSpLocks/>
          </p:cNvCxnSpPr>
          <p:nvPr/>
        </p:nvCxnSpPr>
        <p:spPr>
          <a:xfrm flipV="1">
            <a:off x="7105530" y="3039681"/>
            <a:ext cx="0" cy="686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6FEEECB-DA7F-9640-13E6-512B64D0E5F7}"/>
              </a:ext>
            </a:extLst>
          </p:cNvPr>
          <p:cNvSpPr txBox="1"/>
          <p:nvPr/>
        </p:nvSpPr>
        <p:spPr>
          <a:xfrm>
            <a:off x="8410402" y="3729784"/>
            <a:ext cx="1736906" cy="1477328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Total production in bushels of a specific commodity</a:t>
            </a:r>
            <a:endParaRPr lang="en-CA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577CEB2-2D38-C5A3-94BE-D7DBA360AE8B}"/>
              </a:ext>
            </a:extLst>
          </p:cNvPr>
          <p:cNvCxnSpPr>
            <a:cxnSpLocks/>
          </p:cNvCxnSpPr>
          <p:nvPr/>
        </p:nvCxnSpPr>
        <p:spPr>
          <a:xfrm flipV="1">
            <a:off x="9247211" y="3039681"/>
            <a:ext cx="0" cy="686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719330E-1134-58E0-CE32-4EA03454F585}"/>
              </a:ext>
            </a:extLst>
          </p:cNvPr>
          <p:cNvSpPr txBox="1"/>
          <p:nvPr/>
        </p:nvSpPr>
        <p:spPr>
          <a:xfrm>
            <a:off x="10350251" y="3726432"/>
            <a:ext cx="1736906" cy="1477328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Accounts for </a:t>
            </a:r>
            <a:r>
              <a:rPr lang="en-US" b="1" dirty="0"/>
              <a:t>each period’s </a:t>
            </a:r>
            <a:r>
              <a:rPr lang="en-US" dirty="0"/>
              <a:t>payment: Pre-harvest and Post-harvest</a:t>
            </a:r>
            <a:endParaRPr lang="en-CA" b="1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D609880-31D4-1A19-44A1-72E58298D4B9}"/>
              </a:ext>
            </a:extLst>
          </p:cNvPr>
          <p:cNvCxnSpPr>
            <a:cxnSpLocks/>
          </p:cNvCxnSpPr>
          <p:nvPr/>
        </p:nvCxnSpPr>
        <p:spPr>
          <a:xfrm flipV="1">
            <a:off x="11182229" y="3039681"/>
            <a:ext cx="0" cy="686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28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D8F77-E27C-2537-DBC5-D8A18C43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853A182-5DA7-4CEB-BA06-411C052DEB6C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26232A-A1E7-1F83-7939-BFDB480E5DC3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FEEEC-AB5E-B873-D268-6788AD9F7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FBD239-4F51-66B2-C351-D739621A9040}"/>
              </a:ext>
            </a:extLst>
          </p:cNvPr>
          <p:cNvSpPr txBox="1"/>
          <p:nvPr/>
        </p:nvSpPr>
        <p:spPr>
          <a:xfrm>
            <a:off x="824752" y="635316"/>
            <a:ext cx="1046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RMP Update – Pre-harvest Numbers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211758-714C-D0E5-5F3F-89508978820F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08749F-50D3-A32D-F6DD-5520128429FB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1B5A53-8153-6B3C-935F-5084BA4067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3040039"/>
              </p:ext>
            </p:extLst>
          </p:nvPr>
        </p:nvGraphicFramePr>
        <p:xfrm>
          <a:off x="952013" y="1770902"/>
          <a:ext cx="10532470" cy="23977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406175">
                  <a:extLst>
                    <a:ext uri="{9D8B030D-6E8A-4147-A177-3AD203B41FA5}">
                      <a16:colId xmlns:a16="http://schemas.microsoft.com/office/drawing/2014/main" val="3063020662"/>
                    </a:ext>
                  </a:extLst>
                </a:gridCol>
                <a:gridCol w="1988172">
                  <a:extLst>
                    <a:ext uri="{9D8B030D-6E8A-4147-A177-3AD203B41FA5}">
                      <a16:colId xmlns:a16="http://schemas.microsoft.com/office/drawing/2014/main" val="2863411356"/>
                    </a:ext>
                  </a:extLst>
                </a:gridCol>
                <a:gridCol w="1877019">
                  <a:extLst>
                    <a:ext uri="{9D8B030D-6E8A-4147-A177-3AD203B41FA5}">
                      <a16:colId xmlns:a16="http://schemas.microsoft.com/office/drawing/2014/main" val="1589208224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758202415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393253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Commodity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Payment Estimate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Anticipated</a:t>
                      </a:r>
                      <a:r>
                        <a:rPr lang="en-US" dirty="0"/>
                        <a:t> Premiums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Bushels Enrolled*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 Bu Payment </a:t>
                      </a:r>
                      <a:r>
                        <a:rPr lang="en-US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Anticipated</a:t>
                      </a:r>
                      <a:r>
                        <a:rPr lang="en-US" dirty="0"/>
                        <a:t> </a:t>
                      </a:r>
                    </a:p>
                    <a:p>
                      <a:pPr algn="ctr"/>
                      <a:r>
                        <a:rPr lang="en-US" dirty="0"/>
                        <a:t>(after proration)#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55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49,620,658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9,651,281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212,116,062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$0.069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62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Soybean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62,957,781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5,469,736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73,815,594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$0.253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358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Wheat - SRW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22,562,422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2,097,912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41,055,020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$0.163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65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 (Pre-harvest)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135,140,861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~ 19.2 million**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1483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9513495-4FDC-42C3-CABD-49FF8CB843B4}"/>
              </a:ext>
            </a:extLst>
          </p:cNvPr>
          <p:cNvSpPr txBox="1"/>
          <p:nvPr/>
        </p:nvSpPr>
        <p:spPr>
          <a:xfrm>
            <a:off x="753035" y="4965925"/>
            <a:ext cx="9327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*Bushels enrolled are based on 2024-25 RMP year. Subject to change in 2025-26.</a:t>
            </a:r>
          </a:p>
          <a:p>
            <a:r>
              <a:rPr lang="en-US" dirty="0"/>
              <a:t>#Per </a:t>
            </a:r>
            <a:r>
              <a:rPr lang="en-US" dirty="0" err="1"/>
              <a:t>bu</a:t>
            </a:r>
            <a:r>
              <a:rPr lang="en-US" dirty="0"/>
              <a:t> amount is calculated net of premiums.</a:t>
            </a:r>
          </a:p>
          <a:p>
            <a:r>
              <a:rPr lang="en-US" dirty="0"/>
              <a:t>** Sourced from OACC program update.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2760B-009B-B70E-0C73-3A7E4798D5D0}"/>
              </a:ext>
            </a:extLst>
          </p:cNvPr>
          <p:cNvSpPr txBox="1"/>
          <p:nvPr/>
        </p:nvSpPr>
        <p:spPr>
          <a:xfrm>
            <a:off x="837600" y="4577576"/>
            <a:ext cx="367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Anticipated proration at 29.68%</a:t>
            </a:r>
            <a:endParaRPr lang="en-CA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52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E7E2D-87DE-D4CC-4EB6-D392579F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5EC6662-BBBE-B478-965E-66C290687DD0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86360C-B90C-D029-9FDE-B1D2F3BFEC03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394E9-DCB9-822B-28D4-29B35B8A8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F48971-6D7C-BA9E-9DA2-26EF65584F3F}"/>
              </a:ext>
            </a:extLst>
          </p:cNvPr>
          <p:cNvSpPr txBox="1"/>
          <p:nvPr/>
        </p:nvSpPr>
        <p:spPr>
          <a:xfrm>
            <a:off x="1025920" y="387372"/>
            <a:ext cx="10468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What would an addition of 60% Federal support mean - conceptually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D23C3A-154C-AFB3-3792-CA077D281400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EAEFCA-B610-5884-A430-1C400337C0D4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25F1A7-7DCE-8F8E-106B-648661FB34F7}"/>
              </a:ext>
            </a:extLst>
          </p:cNvPr>
          <p:cNvSpPr txBox="1">
            <a:spLocks/>
          </p:cNvSpPr>
          <p:nvPr/>
        </p:nvSpPr>
        <p:spPr>
          <a:xfrm>
            <a:off x="1144416" y="17220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is important to remember that there are two aspects of RMP: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1" dirty="0"/>
              <a:t>The Liability </a:t>
            </a:r>
            <a:r>
              <a:rPr lang="en-US" dirty="0"/>
              <a:t>(or uncapped payments generated from the formula).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1" dirty="0"/>
              <a:t>The funding available: </a:t>
            </a:r>
            <a:r>
              <a:rPr lang="en-US" dirty="0"/>
              <a:t>provincial (current) + Federal (GFO ask)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CA" dirty="0"/>
          </a:p>
          <a:p>
            <a:pPr lvl="1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A4AC20-C254-C524-4DEA-3D2BB474A7C5}"/>
              </a:ext>
            </a:extLst>
          </p:cNvPr>
          <p:cNvSpPr/>
          <p:nvPr/>
        </p:nvSpPr>
        <p:spPr>
          <a:xfrm>
            <a:off x="1742471" y="3089498"/>
            <a:ext cx="9319490" cy="195154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Therefore, adding the 60% funding from the Federal govt, will also correspondingly </a:t>
            </a:r>
            <a:r>
              <a:rPr lang="en-US" sz="2400" b="1" dirty="0"/>
              <a:t>generate a 60% higher liability </a:t>
            </a:r>
            <a:r>
              <a:rPr lang="en-US" sz="2400" dirty="0"/>
              <a:t>as well. </a:t>
            </a:r>
          </a:p>
          <a:p>
            <a:pPr algn="ctr"/>
            <a:endParaRPr lang="en-US" sz="2400" b="1" dirty="0"/>
          </a:p>
          <a:p>
            <a:r>
              <a:rPr lang="en-US" sz="2400" b="1" dirty="0"/>
              <a:t>However, producers will still benefit because the payment on a per-acre basis will increase.</a:t>
            </a:r>
            <a:endParaRPr lang="en-CA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7C139-EF26-FCC3-1998-B1B2A59E6303}"/>
              </a:ext>
            </a:extLst>
          </p:cNvPr>
          <p:cNvSpPr txBox="1"/>
          <p:nvPr/>
        </p:nvSpPr>
        <p:spPr>
          <a:xfrm>
            <a:off x="950760" y="5401124"/>
            <a:ext cx="866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explained in detail in the next few slides – with a historical comparison</a:t>
            </a:r>
            <a:endParaRPr lang="en-CA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46B3A1D-E506-61F5-F089-3782CB9A84B5}"/>
              </a:ext>
            </a:extLst>
          </p:cNvPr>
          <p:cNvCxnSpPr>
            <a:cxnSpLocks/>
          </p:cNvCxnSpPr>
          <p:nvPr/>
        </p:nvCxnSpPr>
        <p:spPr>
          <a:xfrm flipV="1">
            <a:off x="2428362" y="5027923"/>
            <a:ext cx="323273" cy="3812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Arrow: Down 6">
            <a:extLst>
              <a:ext uri="{FF2B5EF4-FFF2-40B4-BE49-F238E27FC236}">
                <a16:creationId xmlns:a16="http://schemas.microsoft.com/office/drawing/2014/main" id="{86C616E9-4828-65F8-1B0A-1D99EBB6DEB3}"/>
              </a:ext>
            </a:extLst>
          </p:cNvPr>
          <p:cNvSpPr/>
          <p:nvPr/>
        </p:nvSpPr>
        <p:spPr>
          <a:xfrm rot="10800000">
            <a:off x="5800437" y="4601151"/>
            <a:ext cx="295563" cy="38135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424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96F0-6B0A-08A6-9C80-A05B8FEE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CB585F-5371-63E2-9F7D-CB567AE0604D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083FA0-8971-C128-8671-1475088486C0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AD9EA5-47FA-A46A-33B9-DD61FC70C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A425E0-6869-57F6-6962-8E3A62FE2391}"/>
              </a:ext>
            </a:extLst>
          </p:cNvPr>
          <p:cNvSpPr txBox="1"/>
          <p:nvPr/>
        </p:nvSpPr>
        <p:spPr>
          <a:xfrm rot="16200000">
            <a:off x="-1930438" y="2625339"/>
            <a:ext cx="5683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100% Program: Feds + Prov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7590B2-38CF-BF98-2E88-3D75610DA13C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AF3CB2-826C-C4DA-0EA7-713C360A4677}"/>
              </a:ext>
            </a:extLst>
          </p:cNvPr>
          <p:cNvSpPr txBox="1"/>
          <p:nvPr/>
        </p:nvSpPr>
        <p:spPr>
          <a:xfrm>
            <a:off x="7148706" y="3220913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5497CF-FC27-7997-7007-6CFFA7F3CE5F}"/>
                  </a:ext>
                </a:extLst>
              </p:cNvPr>
              <p:cNvSpPr txBox="1"/>
              <p:nvPr/>
            </p:nvSpPr>
            <p:spPr>
              <a:xfrm>
                <a:off x="4629244" y="1058150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5497CF-FC27-7997-7007-6CFFA7F3C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244" y="1058150"/>
                <a:ext cx="211596" cy="276999"/>
              </a:xfrm>
              <a:prstGeom prst="rect">
                <a:avLst/>
              </a:prstGeom>
              <a:blipFill>
                <a:blip r:embed="rId3"/>
                <a:stretch>
                  <a:fillRect l="-20000" r="-20000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BBA4B9F-3241-098E-F47F-B4431E547B36}"/>
                  </a:ext>
                </a:extLst>
              </p:cNvPr>
              <p:cNvSpPr/>
              <p:nvPr/>
            </p:nvSpPr>
            <p:spPr>
              <a:xfrm>
                <a:off x="1172387" y="634349"/>
                <a:ext cx="3310128" cy="10972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𝑆𝑢𝑝𝑝𝑜𝑟𝑡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𝑙𝑒𝑣𝑒𝑙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𝐴𝑣𝑔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𝑃𝑟𝑖𝑐𝑒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BBA4B9F-3241-098E-F47F-B4431E547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387" y="634349"/>
                <a:ext cx="3310128" cy="109728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AFC71F3-E067-D647-4BE7-38FFB5A414D4}"/>
              </a:ext>
            </a:extLst>
          </p:cNvPr>
          <p:cNvSpPr/>
          <p:nvPr/>
        </p:nvSpPr>
        <p:spPr>
          <a:xfrm>
            <a:off x="4906772" y="634349"/>
            <a:ext cx="1437372" cy="10972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0.40 + </a:t>
            </a:r>
            <a:r>
              <a:rPr lang="en-US" b="1" dirty="0">
                <a:solidFill>
                  <a:srgbClr val="B88C00"/>
                </a:solidFill>
              </a:rPr>
              <a:t>0.60</a:t>
            </a:r>
            <a:endParaRPr lang="en-CA" b="1" dirty="0">
              <a:solidFill>
                <a:srgbClr val="B88C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E52F5CD-3C83-AB36-D701-23194D6B9A2A}"/>
                  </a:ext>
                </a:extLst>
              </p:cNvPr>
              <p:cNvSpPr txBox="1"/>
              <p:nvPr/>
            </p:nvSpPr>
            <p:spPr>
              <a:xfrm>
                <a:off x="6454955" y="1072979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E52F5CD-3C83-AB36-D701-23194D6B9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955" y="1072979"/>
                <a:ext cx="211596" cy="276999"/>
              </a:xfrm>
              <a:prstGeom prst="rect">
                <a:avLst/>
              </a:prstGeom>
              <a:blipFill>
                <a:blip r:embed="rId5"/>
                <a:stretch>
                  <a:fillRect l="-20000" r="-20000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450BA8E-3A70-AA96-0F3E-C2772E82653C}"/>
              </a:ext>
            </a:extLst>
          </p:cNvPr>
          <p:cNvSpPr/>
          <p:nvPr/>
        </p:nvSpPr>
        <p:spPr>
          <a:xfrm>
            <a:off x="6778463" y="666994"/>
            <a:ext cx="1437372" cy="10972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Proration, </a:t>
            </a:r>
          </a:p>
          <a:p>
            <a:pPr algn="ctr"/>
            <a:r>
              <a:rPr lang="en-US" b="1" i="1" dirty="0"/>
              <a:t>If any</a:t>
            </a:r>
            <a:endParaRPr lang="en-CA" b="1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3AE5411-BE18-09A7-CF7B-9BE38779409F}"/>
                  </a:ext>
                </a:extLst>
              </p:cNvPr>
              <p:cNvSpPr txBox="1"/>
              <p:nvPr/>
            </p:nvSpPr>
            <p:spPr>
              <a:xfrm>
                <a:off x="8398200" y="1072980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3AE5411-BE18-09A7-CF7B-9BE387794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200" y="1072980"/>
                <a:ext cx="211596" cy="276999"/>
              </a:xfrm>
              <a:prstGeom prst="rect">
                <a:avLst/>
              </a:prstGeom>
              <a:blipFill>
                <a:blip r:embed="rId6"/>
                <a:stretch>
                  <a:fillRect l="-20588" r="-23529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DC0CC68-12E7-CFE2-4199-1BEA88C0D079}"/>
              </a:ext>
            </a:extLst>
          </p:cNvPr>
          <p:cNvSpPr/>
          <p:nvPr/>
        </p:nvSpPr>
        <p:spPr>
          <a:xfrm>
            <a:off x="8792161" y="662838"/>
            <a:ext cx="1437372" cy="10972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No. of bushels</a:t>
            </a:r>
            <a:endParaRPr lang="en-CA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E36A1C7-7C61-DDDA-342C-38C22582DDDF}"/>
                  </a:ext>
                </a:extLst>
              </p:cNvPr>
              <p:cNvSpPr txBox="1"/>
              <p:nvPr/>
            </p:nvSpPr>
            <p:spPr>
              <a:xfrm>
                <a:off x="10411898" y="1057397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E36A1C7-7C61-DDDA-342C-38C22582D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898" y="1057397"/>
                <a:ext cx="211596" cy="276999"/>
              </a:xfrm>
              <a:prstGeom prst="rect">
                <a:avLst/>
              </a:prstGeom>
              <a:blipFill>
                <a:blip r:embed="rId7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B0CF4800-DAAC-DC1E-A65D-758F49172F27}"/>
                  </a:ext>
                </a:extLst>
              </p:cNvPr>
              <p:cNvSpPr/>
              <p:nvPr/>
            </p:nvSpPr>
            <p:spPr>
              <a:xfrm>
                <a:off x="10805859" y="652382"/>
                <a:ext cx="1143000" cy="109728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A" i="1" dirty="0"/>
              </a:p>
            </p:txBody>
          </p:sp>
        </mc:Choice>
        <mc:Fallback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B0CF4800-DAAC-DC1E-A65D-758F49172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5859" y="652382"/>
                <a:ext cx="1143000" cy="109728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7190C0-A3C6-EA01-4155-DF387AC28A5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5841244" y="1339274"/>
            <a:ext cx="32598" cy="504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7D11876-3236-C876-FE5B-E9C5CEBD6AA4}"/>
              </a:ext>
            </a:extLst>
          </p:cNvPr>
          <p:cNvSpPr txBox="1"/>
          <p:nvPr/>
        </p:nvSpPr>
        <p:spPr>
          <a:xfrm>
            <a:off x="4904025" y="1844088"/>
            <a:ext cx="1874438" cy="83099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Instead of multiplying by 0.40 we would do it by </a:t>
            </a:r>
            <a:r>
              <a:rPr lang="en-US" sz="1200" b="1" dirty="0"/>
              <a:t>1</a:t>
            </a:r>
            <a:r>
              <a:rPr lang="en-US" sz="1200" dirty="0"/>
              <a:t> now after the 0.60 from the Feds is added.</a:t>
            </a:r>
            <a:endParaRPr lang="en-CA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852B60-056A-A7F5-A5C2-D8ECF9D96DF9}"/>
              </a:ext>
            </a:extLst>
          </p:cNvPr>
          <p:cNvSpPr txBox="1"/>
          <p:nvPr/>
        </p:nvSpPr>
        <p:spPr>
          <a:xfrm>
            <a:off x="1341393" y="2033162"/>
            <a:ext cx="31873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Funding available </a:t>
            </a:r>
          </a:p>
          <a:p>
            <a:r>
              <a:rPr lang="en-US" sz="1200" dirty="0"/>
              <a:t>(assumes $100 million added by 2027)</a:t>
            </a:r>
            <a:endParaRPr lang="en-CA" sz="1200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F9957F3-6563-DC9F-2324-66BA15A3F3D2}"/>
              </a:ext>
            </a:extLst>
          </p:cNvPr>
          <p:cNvSpPr/>
          <p:nvPr/>
        </p:nvSpPr>
        <p:spPr>
          <a:xfrm>
            <a:off x="2094179" y="3583298"/>
            <a:ext cx="2152073" cy="9154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Funds for OASC</a:t>
            </a:r>
            <a:r>
              <a:rPr lang="en-US" b="1" dirty="0"/>
              <a:t>: $250 M</a:t>
            </a:r>
            <a:endParaRPr lang="en-CA" b="1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AAAE3A0-36A1-00DD-22A3-040346563B3B}"/>
              </a:ext>
            </a:extLst>
          </p:cNvPr>
          <p:cNvCxnSpPr>
            <a:stCxn id="53" idx="2"/>
          </p:cNvCxnSpPr>
          <p:nvPr/>
        </p:nvCxnSpPr>
        <p:spPr>
          <a:xfrm>
            <a:off x="3170216" y="4498720"/>
            <a:ext cx="0" cy="38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F8E1099-36CC-7D22-50AC-64461826E306}"/>
              </a:ext>
            </a:extLst>
          </p:cNvPr>
          <p:cNvSpPr/>
          <p:nvPr/>
        </p:nvSpPr>
        <p:spPr>
          <a:xfrm>
            <a:off x="2094179" y="4901280"/>
            <a:ext cx="2152073" cy="9154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G&amp;O’s share: </a:t>
            </a:r>
          </a:p>
          <a:p>
            <a:pPr algn="ctr"/>
            <a:r>
              <a:rPr lang="en-US" b="1" dirty="0"/>
              <a:t>$87.5 M</a:t>
            </a:r>
            <a:endParaRPr lang="en-CA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04C12FE-2E88-CD22-3A92-61C689107EB5}"/>
                  </a:ext>
                </a:extLst>
              </p:cNvPr>
              <p:cNvSpPr txBox="1"/>
              <p:nvPr/>
            </p:nvSpPr>
            <p:spPr>
              <a:xfrm>
                <a:off x="4611512" y="4498720"/>
                <a:ext cx="3654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CA" sz="30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04C12FE-2E88-CD22-3A92-61C68910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512" y="4498720"/>
                <a:ext cx="36548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996C20C-3041-E122-6514-A4D34D118795}"/>
              </a:ext>
            </a:extLst>
          </p:cNvPr>
          <p:cNvSpPr/>
          <p:nvPr/>
        </p:nvSpPr>
        <p:spPr>
          <a:xfrm>
            <a:off x="5682506" y="3583298"/>
            <a:ext cx="2152073" cy="9154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Funds for OASC</a:t>
            </a:r>
            <a:r>
              <a:rPr lang="en-US" b="1" dirty="0"/>
              <a:t>: $375 M</a:t>
            </a:r>
            <a:endParaRPr lang="en-CA" b="1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81EC13A-45B0-E132-F20F-E2F3A43F66AF}"/>
              </a:ext>
            </a:extLst>
          </p:cNvPr>
          <p:cNvCxnSpPr>
            <a:stCxn id="57" idx="2"/>
          </p:cNvCxnSpPr>
          <p:nvPr/>
        </p:nvCxnSpPr>
        <p:spPr>
          <a:xfrm>
            <a:off x="6758543" y="4498720"/>
            <a:ext cx="0" cy="38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AD6B9AB-0A2E-6BDD-3C19-1757355FD716}"/>
              </a:ext>
            </a:extLst>
          </p:cNvPr>
          <p:cNvSpPr/>
          <p:nvPr/>
        </p:nvSpPr>
        <p:spPr>
          <a:xfrm>
            <a:off x="5682506" y="4901280"/>
            <a:ext cx="2152073" cy="9154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G&amp;O’s share: </a:t>
            </a:r>
          </a:p>
          <a:p>
            <a:pPr algn="ctr"/>
            <a:r>
              <a:rPr lang="en-US" b="1" dirty="0"/>
              <a:t>$131.25 M</a:t>
            </a:r>
            <a:endParaRPr lang="en-CA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E4BF980-8AC4-74D1-D9EB-BA95C59FC463}"/>
                  </a:ext>
                </a:extLst>
              </p:cNvPr>
              <p:cNvSpPr txBox="1"/>
              <p:nvPr/>
            </p:nvSpPr>
            <p:spPr>
              <a:xfrm>
                <a:off x="8382291" y="4407417"/>
                <a:ext cx="3654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A" sz="30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E4BF980-8AC4-74D1-D9EB-BA95C59FC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291" y="4407417"/>
                <a:ext cx="36548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73E5067-6A79-D61A-7089-7C651E1BECA5}"/>
              </a:ext>
            </a:extLst>
          </p:cNvPr>
          <p:cNvSpPr/>
          <p:nvPr/>
        </p:nvSpPr>
        <p:spPr>
          <a:xfrm>
            <a:off x="8910616" y="3567199"/>
            <a:ext cx="2152073" cy="9154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Funds for OASC</a:t>
            </a:r>
            <a:r>
              <a:rPr lang="en-US" b="1" dirty="0"/>
              <a:t>: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$625 M</a:t>
            </a:r>
            <a:endParaRPr lang="en-CA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9083CAC-8E46-CE71-CE78-6B02202F3B1B}"/>
              </a:ext>
            </a:extLst>
          </p:cNvPr>
          <p:cNvCxnSpPr>
            <a:stCxn id="61" idx="2"/>
          </p:cNvCxnSpPr>
          <p:nvPr/>
        </p:nvCxnSpPr>
        <p:spPr>
          <a:xfrm>
            <a:off x="9986653" y="4482621"/>
            <a:ext cx="0" cy="38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102BA8D-828B-35DA-5ED1-3848FA53B9DB}"/>
              </a:ext>
            </a:extLst>
          </p:cNvPr>
          <p:cNvSpPr/>
          <p:nvPr/>
        </p:nvSpPr>
        <p:spPr>
          <a:xfrm>
            <a:off x="8910616" y="4885181"/>
            <a:ext cx="2152073" cy="9154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G&amp;O’s share: </a:t>
            </a:r>
          </a:p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$218.75 M</a:t>
            </a:r>
            <a:endParaRPr lang="en-CA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5CF25184-18B5-B49D-5BE2-C1F86969029F}"/>
              </a:ext>
            </a:extLst>
          </p:cNvPr>
          <p:cNvSpPr/>
          <p:nvPr/>
        </p:nvSpPr>
        <p:spPr>
          <a:xfrm rot="16200000">
            <a:off x="2987478" y="1924669"/>
            <a:ext cx="365474" cy="308066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26AF72-CBA8-E150-7B7A-9D52990A9EFA}"/>
              </a:ext>
            </a:extLst>
          </p:cNvPr>
          <p:cNvSpPr txBox="1"/>
          <p:nvPr/>
        </p:nvSpPr>
        <p:spPr>
          <a:xfrm>
            <a:off x="2122227" y="2940924"/>
            <a:ext cx="2406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Provincial portion</a:t>
            </a:r>
            <a:endParaRPr lang="en-CA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CDD7CC-7EA6-BB50-836A-47B544ADE211}"/>
              </a:ext>
            </a:extLst>
          </p:cNvPr>
          <p:cNvSpPr txBox="1"/>
          <p:nvPr/>
        </p:nvSpPr>
        <p:spPr>
          <a:xfrm>
            <a:off x="5834176" y="2900990"/>
            <a:ext cx="2406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Federal portion</a:t>
            </a:r>
            <a:endParaRPr lang="en-CA" b="1" dirty="0"/>
          </a:p>
        </p:txBody>
      </p:sp>
      <p:sp>
        <p:nvSpPr>
          <p:cNvPr id="67" name="Right Brace 66">
            <a:extLst>
              <a:ext uri="{FF2B5EF4-FFF2-40B4-BE49-F238E27FC236}">
                <a16:creationId xmlns:a16="http://schemas.microsoft.com/office/drawing/2014/main" id="{EABE1B01-4D20-A577-C482-5777A1A068B7}"/>
              </a:ext>
            </a:extLst>
          </p:cNvPr>
          <p:cNvSpPr/>
          <p:nvPr/>
        </p:nvSpPr>
        <p:spPr>
          <a:xfrm rot="16200000">
            <a:off x="6517600" y="1906350"/>
            <a:ext cx="365474" cy="308066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16A0A6-2D03-18B0-2263-C37E93A2FC30}"/>
              </a:ext>
            </a:extLst>
          </p:cNvPr>
          <p:cNvSpPr txBox="1"/>
          <p:nvPr/>
        </p:nvSpPr>
        <p:spPr>
          <a:xfrm>
            <a:off x="8783406" y="2948504"/>
            <a:ext cx="2406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</a:t>
            </a:r>
            <a:endParaRPr lang="en-CA" b="1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A358D58-092B-2905-F6C5-5909D1649C2A}"/>
              </a:ext>
            </a:extLst>
          </p:cNvPr>
          <p:cNvSpPr/>
          <p:nvPr/>
        </p:nvSpPr>
        <p:spPr>
          <a:xfrm>
            <a:off x="5144487" y="2940924"/>
            <a:ext cx="3105944" cy="2945560"/>
          </a:xfrm>
          <a:prstGeom prst="rect">
            <a:avLst/>
          </a:prstGeom>
          <a:solidFill>
            <a:schemeClr val="bg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E56E15B-855B-0EC9-1F37-8FAA0878BBF4}"/>
              </a:ext>
            </a:extLst>
          </p:cNvPr>
          <p:cNvCxnSpPr>
            <a:cxnSpLocks/>
          </p:cNvCxnSpPr>
          <p:nvPr/>
        </p:nvCxnSpPr>
        <p:spPr>
          <a:xfrm flipH="1">
            <a:off x="7969298" y="2690479"/>
            <a:ext cx="204172" cy="627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43B4FDF-3BFB-CF84-45D5-6116C428311C}"/>
              </a:ext>
            </a:extLst>
          </p:cNvPr>
          <p:cNvSpPr txBox="1"/>
          <p:nvPr/>
        </p:nvSpPr>
        <p:spPr>
          <a:xfrm>
            <a:off x="7707370" y="2362749"/>
            <a:ext cx="2152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OASC/GFO Ask</a:t>
            </a:r>
            <a:endParaRPr lang="en-CA" sz="1200" b="1" dirty="0"/>
          </a:p>
        </p:txBody>
      </p:sp>
    </p:spTree>
    <p:extLst>
      <p:ext uri="{BB962C8B-B14F-4D97-AF65-F5344CB8AC3E}">
        <p14:creationId xmlns:p14="http://schemas.microsoft.com/office/powerpoint/2010/main" val="284702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4AAB-F84D-5515-1116-D7BFEDA4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067811-F34F-580D-32B5-27FEDB810F3D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8A21C3-362C-275D-0F28-2CF576771815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AE524-2ABE-A431-9981-D417F9A8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C2886C-E926-27AA-2AC1-2E29C75A1AC0}"/>
              </a:ext>
            </a:extLst>
          </p:cNvPr>
          <p:cNvSpPr txBox="1"/>
          <p:nvPr/>
        </p:nvSpPr>
        <p:spPr>
          <a:xfrm>
            <a:off x="837600" y="244697"/>
            <a:ext cx="11157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Historical Perspective: How would things change in RMP?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61369E-926D-CA75-B1BB-223F22DF7324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BF40CD-07A1-2EFB-51A1-C3664C62665D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503E7F7-BA86-FC67-6465-D63780B665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0121777"/>
              </p:ext>
            </p:extLst>
          </p:nvPr>
        </p:nvGraphicFramePr>
        <p:xfrm>
          <a:off x="753035" y="1093658"/>
          <a:ext cx="11321899" cy="5058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0C5F78D-D63B-CC01-BAAD-FFA6C5F5FD6C}"/>
              </a:ext>
            </a:extLst>
          </p:cNvPr>
          <p:cNvSpPr txBox="1"/>
          <p:nvPr/>
        </p:nvSpPr>
        <p:spPr>
          <a:xfrm>
            <a:off x="1382167" y="1744950"/>
            <a:ext cx="79999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/>
              <a:t>We compare if historical liabilities when </a:t>
            </a:r>
            <a:r>
              <a:rPr lang="en-US" sz="1200" b="1" dirty="0"/>
              <a:t>both the  Federal and Provincial </a:t>
            </a:r>
            <a:r>
              <a:rPr lang="en-US" sz="1200" dirty="0"/>
              <a:t>govt are part of the RMP program.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The 2025 numbers are projections.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The joint (Fed + Prov) funding numbers also </a:t>
            </a:r>
            <a:r>
              <a:rPr lang="en-US" sz="1200" b="1" dirty="0"/>
              <a:t>include the premiums paid by producers </a:t>
            </a:r>
            <a:r>
              <a:rPr lang="en-US" sz="1200" dirty="0"/>
              <a:t>from 2021 onwards.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Currently, ON producers pay approximately 31% percent of total Prov govt contribution as premiums.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We extrapolate this to the Federal govt – i.e. if the Feds contribute, then the producer’s will pay a share of the fund as premiums.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Example: In 2024, had the Federal govt contributed to the RMP program, then total liability (Note G&amp;O only) would be </a:t>
            </a:r>
            <a:r>
              <a:rPr lang="en-US" sz="1200" b="1" dirty="0"/>
              <a:t>$679 million</a:t>
            </a:r>
            <a:r>
              <a:rPr lang="en-US" sz="1200" dirty="0"/>
              <a:t>, correspondingly – the payments would also be higher at </a:t>
            </a:r>
            <a:r>
              <a:rPr lang="en-US" sz="1200" b="1" dirty="0"/>
              <a:t>$241 million</a:t>
            </a:r>
            <a:r>
              <a:rPr lang="en-US" sz="1200" dirty="0"/>
              <a:t>.</a:t>
            </a:r>
            <a:endParaRPr lang="en-US" sz="1200" b="1" dirty="0"/>
          </a:p>
          <a:p>
            <a:pPr marL="171450" indent="-171450">
              <a:buFontTx/>
              <a:buChar char="-"/>
            </a:pPr>
            <a:endParaRPr lang="en-US" sz="1200" dirty="0"/>
          </a:p>
          <a:p>
            <a:pPr marL="171450" indent="-171450">
              <a:buFontTx/>
              <a:buChar char="-"/>
            </a:pP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755222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4FFA7-34FA-4B74-8023-6011094B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4A2891-F099-9540-59A7-8218896D2840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DA351C-C1C5-07EB-7777-969167B89C8B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6CFD41-53A6-3B49-B0F9-7E77C8BDD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D38C2B-E5AD-05B0-7C31-DA3BD8B057F3}"/>
              </a:ext>
            </a:extLst>
          </p:cNvPr>
          <p:cNvSpPr txBox="1"/>
          <p:nvPr/>
        </p:nvSpPr>
        <p:spPr>
          <a:xfrm>
            <a:off x="824752" y="635316"/>
            <a:ext cx="1046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Per-acre increase from Fed contribution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B26C37-D314-AEB6-CEC4-503CE750D7E2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487443-B7A5-4DC0-5DB3-738F1314581D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CC27457-C7CC-2CD3-64B2-AE7304D5AD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5236624"/>
              </p:ext>
            </p:extLst>
          </p:nvPr>
        </p:nvGraphicFramePr>
        <p:xfrm>
          <a:off x="376517" y="1770799"/>
          <a:ext cx="8485868" cy="3936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1C810DD-CA5F-C2A6-438A-D562F81DDDDE}"/>
              </a:ext>
            </a:extLst>
          </p:cNvPr>
          <p:cNvSpPr txBox="1"/>
          <p:nvPr/>
        </p:nvSpPr>
        <p:spPr>
          <a:xfrm>
            <a:off x="7933269" y="1425960"/>
            <a:ext cx="3722255" cy="3970318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The pattern fill bar the per-acre </a:t>
            </a:r>
            <a:r>
              <a:rPr lang="en-US" b="1" dirty="0"/>
              <a:t>increase in payment </a:t>
            </a:r>
            <a:r>
              <a:rPr lang="en-US" dirty="0"/>
              <a:t>if the Feds started contributing in the year </a:t>
            </a:r>
            <a:r>
              <a:rPr lang="en-US" b="1" dirty="0"/>
              <a:t>2024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The number is still calculated at </a:t>
            </a:r>
            <a:r>
              <a:rPr lang="en-US" b="1" dirty="0"/>
              <a:t>34.8% proration </a:t>
            </a:r>
            <a:r>
              <a:rPr lang="en-US" dirty="0"/>
              <a:t>as was the actual case.</a:t>
            </a:r>
            <a:endParaRPr lang="en-US" b="1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Corn is assumed to have a 200 </a:t>
            </a:r>
            <a:r>
              <a:rPr lang="en-US" dirty="0" err="1"/>
              <a:t>bu</a:t>
            </a:r>
            <a:r>
              <a:rPr lang="en-US" dirty="0"/>
              <a:t>/acre target.</a:t>
            </a:r>
          </a:p>
          <a:p>
            <a:pPr marL="285750" indent="-285750">
              <a:buFontTx/>
              <a:buChar char="-"/>
            </a:pPr>
            <a:r>
              <a:rPr lang="en-US" dirty="0"/>
              <a:t>Soybeans: 50 </a:t>
            </a:r>
            <a:r>
              <a:rPr lang="en-US" dirty="0" err="1"/>
              <a:t>bu</a:t>
            </a:r>
            <a:r>
              <a:rPr lang="en-US" dirty="0"/>
              <a:t>/acre</a:t>
            </a:r>
          </a:p>
          <a:p>
            <a:pPr marL="285750" indent="-285750">
              <a:buFontTx/>
              <a:buChar char="-"/>
            </a:pPr>
            <a:r>
              <a:rPr lang="en-US" dirty="0"/>
              <a:t>SR Wheat: 100 </a:t>
            </a:r>
            <a:r>
              <a:rPr lang="en-US" dirty="0" err="1"/>
              <a:t>bu</a:t>
            </a:r>
            <a:r>
              <a:rPr lang="en-US" dirty="0"/>
              <a:t>/acre</a:t>
            </a:r>
          </a:p>
          <a:p>
            <a:pPr marL="285750" indent="-285750">
              <a:buFontTx/>
              <a:buChar char="-"/>
            </a:pP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98547-7B87-6B9F-C6E2-5E0CD4A39E1C}"/>
              </a:ext>
            </a:extLst>
          </p:cNvPr>
          <p:cNvSpPr txBox="1"/>
          <p:nvPr/>
        </p:nvSpPr>
        <p:spPr>
          <a:xfrm>
            <a:off x="4284910" y="1481753"/>
            <a:ext cx="1108363" cy="366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$/acre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95288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D962-43AF-70FB-0822-A49DE59E1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996F91-B6E6-C427-03B3-F7920F5BD45C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CD6AB-DAD6-D50F-5E3B-83972CBF348F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351F3F-3C51-C8BB-BE4D-F38E7743F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C5E3B6-B54A-AB1E-D362-1A7310DC043F}"/>
              </a:ext>
            </a:extLst>
          </p:cNvPr>
          <p:cNvSpPr txBox="1"/>
          <p:nvPr/>
        </p:nvSpPr>
        <p:spPr>
          <a:xfrm>
            <a:off x="824752" y="635316"/>
            <a:ext cx="1046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334EFC-72B6-0FD4-B321-E50DE5671B0A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E7A9ED-217F-9902-50A6-6A578229398B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1239A4B-A542-0863-F2A2-2B9DBDE08C9F}"/>
              </a:ext>
            </a:extLst>
          </p:cNvPr>
          <p:cNvSpPr txBox="1">
            <a:spLocks/>
          </p:cNvSpPr>
          <p:nvPr/>
        </p:nvSpPr>
        <p:spPr>
          <a:xfrm>
            <a:off x="838200" y="16834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increase in 60% funding from the Feds will also lead to </a:t>
            </a:r>
            <a:r>
              <a:rPr lang="en-US" b="1" dirty="0"/>
              <a:t>higher liability in the program</a:t>
            </a:r>
            <a:r>
              <a:rPr lang="en-US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However, the benefit will be felt </a:t>
            </a:r>
            <a:r>
              <a:rPr lang="en-US" b="1" dirty="0"/>
              <a:t>on a per-acre </a:t>
            </a:r>
            <a:r>
              <a:rPr lang="en-US" dirty="0"/>
              <a:t>(and per-</a:t>
            </a:r>
            <a:r>
              <a:rPr lang="en-US" dirty="0" err="1"/>
              <a:t>bu</a:t>
            </a:r>
            <a:r>
              <a:rPr lang="en-US" dirty="0"/>
              <a:t> level).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Note also that: premium contributions might also be a factor, since a 60% funding increase from the Feds might also increase </a:t>
            </a:r>
            <a:r>
              <a:rPr lang="en-US" b="1" dirty="0"/>
              <a:t>premium contribution </a:t>
            </a:r>
            <a:r>
              <a:rPr lang="en-US" dirty="0"/>
              <a:t>from the producers.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3166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ADA3-33E9-7FE5-F832-13AAAB3F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79E3F06-0C61-2862-C334-AD8D8DB871B2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2F68CB-5030-23E3-3FA0-1210D62A34B2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99223-4BFB-35FC-6C30-5E22B805E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B84039-760D-E500-4360-55E6DC288433}"/>
              </a:ext>
            </a:extLst>
          </p:cNvPr>
          <p:cNvSpPr txBox="1"/>
          <p:nvPr/>
        </p:nvSpPr>
        <p:spPr>
          <a:xfrm>
            <a:off x="824752" y="635316"/>
            <a:ext cx="1046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Appendix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8D6FDB-1A83-7225-F312-A7FA86B505A0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3BAE31-CB1F-882F-0A68-0FB8DE1CB65C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20ABF5F-A819-4712-CE05-07CB08AB81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8858945"/>
              </p:ext>
            </p:extLst>
          </p:nvPr>
        </p:nvGraphicFramePr>
        <p:xfrm>
          <a:off x="957792" y="1345056"/>
          <a:ext cx="10905066" cy="439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6039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A6928-743E-A06F-93DB-46078107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80BF1A-890D-EC18-9430-A10A079EB388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8EAE9C-D72E-F8FB-5651-196AE86AEF9A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9ACE4A-0BB8-19EA-95C7-203D4380C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6E9C70-50D2-99E4-666C-CA068EC12A2D}"/>
              </a:ext>
            </a:extLst>
          </p:cNvPr>
          <p:cNvSpPr txBox="1"/>
          <p:nvPr/>
        </p:nvSpPr>
        <p:spPr>
          <a:xfrm>
            <a:off x="857250" y="2572659"/>
            <a:ext cx="1047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Discussion on RMP from the Committee – Next Steps?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D26D04-AD34-28AF-B3AB-C42964342100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6BC366-62BC-4018-2693-472B6245ADCC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</p:spTree>
    <p:extLst>
      <p:ext uri="{BB962C8B-B14F-4D97-AF65-F5344CB8AC3E}">
        <p14:creationId xmlns:p14="http://schemas.microsoft.com/office/powerpoint/2010/main" val="301937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337ED-2D92-56E9-5E59-AFCABA92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DDE958-32B4-1F83-E81C-A7AB339C6BEA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E283DE-575C-2162-918C-52BD51D564CD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9A9888-B3D1-41F6-926F-4D1F34AD4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AB862F-35F0-4D5C-B5B6-B6205C0FAB3E}"/>
              </a:ext>
            </a:extLst>
          </p:cNvPr>
          <p:cNvSpPr txBox="1"/>
          <p:nvPr/>
        </p:nvSpPr>
        <p:spPr>
          <a:xfrm>
            <a:off x="1104900" y="631809"/>
            <a:ext cx="1047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Appendix II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CB983C-1B61-6F85-5B67-45C2DA9E6C8B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73310A-40EF-DD30-7A92-3E5F9DA3E713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704EDD-2223-74BE-306B-415786AE4425}"/>
              </a:ext>
            </a:extLst>
          </p:cNvPr>
          <p:cNvSpPr txBox="1"/>
          <p:nvPr/>
        </p:nvSpPr>
        <p:spPr>
          <a:xfrm>
            <a:off x="1104900" y="1595306"/>
            <a:ext cx="401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RMP funding </a:t>
            </a:r>
            <a:r>
              <a:rPr lang="en-US" b="1" dirty="0"/>
              <a:t>timeline</a:t>
            </a:r>
            <a:r>
              <a:rPr lang="en-US" dirty="0"/>
              <a:t>?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EB0019-3137-D0D5-698F-38C88F3F8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778" y="1964638"/>
            <a:ext cx="7010671" cy="363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0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2874B-17C4-7CC5-EC4B-BD24982E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4875646-63C4-1B8D-6385-3AA97E975383}"/>
              </a:ext>
            </a:extLst>
          </p:cNvPr>
          <p:cNvSpPr/>
          <p:nvPr/>
        </p:nvSpPr>
        <p:spPr>
          <a:xfrm flipV="1">
            <a:off x="-2" y="0"/>
            <a:ext cx="12192002" cy="6858000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69212-CF07-CCA7-C998-7716AC066CEF}"/>
              </a:ext>
            </a:extLst>
          </p:cNvPr>
          <p:cNvSpPr txBox="1"/>
          <p:nvPr/>
        </p:nvSpPr>
        <p:spPr>
          <a:xfrm>
            <a:off x="0" y="1645909"/>
            <a:ext cx="1219200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InterstateCondensed" pitchFamily="2" charset="77"/>
              </a:rPr>
              <a:t>US vs Canada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InterstateCondensed Light" pitchFamily="2" charset="77"/>
              </a:rPr>
              <a:t>BRM Programming Comparison Report</a:t>
            </a:r>
          </a:p>
          <a:p>
            <a:pPr algn="ctr"/>
            <a:endParaRPr lang="en-US" sz="6000" b="1" dirty="0">
              <a:solidFill>
                <a:schemeClr val="bg1"/>
              </a:solidFill>
              <a:latin typeface="InterstateCondensed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70D8A-4F46-3BA6-4B07-93526DB99011}"/>
              </a:ext>
            </a:extLst>
          </p:cNvPr>
          <p:cNvSpPr txBox="1"/>
          <p:nvPr/>
        </p:nvSpPr>
        <p:spPr>
          <a:xfrm>
            <a:off x="3845858" y="3923455"/>
            <a:ext cx="4500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InterstateCondensed Light" pitchFamily="2" charset="77"/>
              </a:rPr>
              <a:t>2025 Iteration</a:t>
            </a:r>
          </a:p>
        </p:txBody>
      </p:sp>
    </p:spTree>
    <p:extLst>
      <p:ext uri="{BB962C8B-B14F-4D97-AF65-F5344CB8AC3E}">
        <p14:creationId xmlns:p14="http://schemas.microsoft.com/office/powerpoint/2010/main" val="1742513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0684FE-AFB2-1DE2-70D2-44B1F30CF40B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7BDDC5-4FE7-9DB7-25DC-E9E6DB5449F1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720840-E04F-B304-0C50-7498BC689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5F1B0D-199E-1F72-5351-2E74342EBDAD}"/>
              </a:ext>
            </a:extLst>
          </p:cNvPr>
          <p:cNvSpPr txBox="1"/>
          <p:nvPr/>
        </p:nvSpPr>
        <p:spPr>
          <a:xfrm>
            <a:off x="824752" y="635316"/>
            <a:ext cx="1046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US vs Canada (ON) – BRM Support Comparison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51BFB-A5E2-6210-142B-B518945162A0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3D5F51-238A-C6AD-8568-2C39CFFC1197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7A6359-D637-306F-E282-70DEE07C8DBB}"/>
              </a:ext>
            </a:extLst>
          </p:cNvPr>
          <p:cNvSpPr txBox="1"/>
          <p:nvPr/>
        </p:nvSpPr>
        <p:spPr>
          <a:xfrm>
            <a:off x="688910" y="1660591"/>
            <a:ext cx="10814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report compares Business Risk Management (BRM) support for grain farmers in Ontario, Canada, and Nebraska, 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analysis focuses on a representative 1,000-acre corn farm in both regions, evaluating program payments under </a:t>
            </a:r>
            <a:r>
              <a:rPr lang="en-US" b="1" i="1" dirty="0"/>
              <a:t>normal, low-yield and low-price </a:t>
            </a:r>
            <a:r>
              <a:rPr lang="en-US" dirty="0"/>
              <a:t>conditions.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01673-54EB-6783-7B95-61FD383A4CE1}"/>
              </a:ext>
            </a:extLst>
          </p:cNvPr>
          <p:cNvSpPr txBox="1"/>
          <p:nvPr/>
        </p:nvSpPr>
        <p:spPr>
          <a:xfrm>
            <a:off x="3996612" y="3105065"/>
            <a:ext cx="419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What’s new in the updated version?</a:t>
            </a:r>
            <a:endParaRPr lang="en-CA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4746B-BE48-58DB-3165-88094AE8BA23}"/>
              </a:ext>
            </a:extLst>
          </p:cNvPr>
          <p:cNvSpPr txBox="1"/>
          <p:nvPr/>
        </p:nvSpPr>
        <p:spPr>
          <a:xfrm>
            <a:off x="998376" y="3645719"/>
            <a:ext cx="103849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Incorporates changes made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Crop insurance premium subsidies and support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Title I commodity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Recently announced Ad hoc payments (both Spring 2025 and potential Fall 2025).</a:t>
            </a:r>
          </a:p>
          <a:p>
            <a:endParaRPr lang="en-US" dirty="0"/>
          </a:p>
          <a:p>
            <a:r>
              <a:rPr lang="en-US" dirty="0"/>
              <a:t>The updated version explains where 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“Difference Drivers” </a:t>
            </a:r>
            <a:r>
              <a:rPr lang="en-US" dirty="0"/>
              <a:t>are in terms of programming in Canada (ON) and United States.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30783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0796-EB40-EFE9-0BBB-ED5D7442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2565C0-A85C-F798-E0BC-D2564227727B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AF1218-5834-2E54-A74B-1084525C8C88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552427-170D-4950-FD4E-EF6275A86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A8DC77-954D-68F7-38EB-9E8774FB6D7E}"/>
              </a:ext>
            </a:extLst>
          </p:cNvPr>
          <p:cNvSpPr txBox="1"/>
          <p:nvPr/>
        </p:nvSpPr>
        <p:spPr>
          <a:xfrm>
            <a:off x="726952" y="269790"/>
            <a:ext cx="1046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US vs Canada (ON) – Main Results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47C42C-73C8-9E25-5A3B-FCBAD1F87B2E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9544D9-84E4-EC9D-565E-DA02281A1611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6A352C-4441-359B-04DB-B02FA365E79F}"/>
              </a:ext>
            </a:extLst>
          </p:cNvPr>
          <p:cNvSpPr txBox="1"/>
          <p:nvPr/>
        </p:nvSpPr>
        <p:spPr>
          <a:xfrm rot="16200000">
            <a:off x="44129" y="3506403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$/acre</a:t>
            </a:r>
            <a:endParaRPr lang="en-CA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706E07-0760-0837-301A-5FD31B6695C2}"/>
              </a:ext>
            </a:extLst>
          </p:cNvPr>
          <p:cNvSpPr txBox="1"/>
          <p:nvPr/>
        </p:nvSpPr>
        <p:spPr>
          <a:xfrm>
            <a:off x="1053596" y="5430387"/>
            <a:ext cx="618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*There are scenarios, where ON farmers earn more in normal yield, normal price years, due to US crop insurance premiums being higher and no indemnities being triggered and no Title I payments. </a:t>
            </a:r>
            <a:endParaRPr lang="en-CA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50F1979-F6F1-C918-BE92-34FBF6C57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721" y="4179471"/>
            <a:ext cx="4627279" cy="17397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A872C9-4697-A57C-9B59-91FF698B11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144" y="-13014"/>
            <a:ext cx="4667856" cy="5375589"/>
          </a:xfrm>
          <a:prstGeom prst="rect">
            <a:avLst/>
          </a:prstGeom>
        </p:spPr>
      </p:pic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5DF020BF-6885-570F-1559-950517C2D3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8601852"/>
              </p:ext>
            </p:extLst>
          </p:nvPr>
        </p:nvGraphicFramePr>
        <p:xfrm>
          <a:off x="1150543" y="1217219"/>
          <a:ext cx="5517899" cy="3905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07405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9935A-1CD7-47CA-B239-39E6BA7CB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3B36F2-D58C-D4A0-AC3C-687E0A85AB79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64B02A-BBEC-92EE-812A-944CEF7E1A33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46B067-2EE2-721E-6317-ABA4A50C3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A9894E-2167-83F5-F715-B9F159F5719F}"/>
              </a:ext>
            </a:extLst>
          </p:cNvPr>
          <p:cNvSpPr txBox="1"/>
          <p:nvPr/>
        </p:nvSpPr>
        <p:spPr>
          <a:xfrm>
            <a:off x="992756" y="498138"/>
            <a:ext cx="1046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Latest on US Ad-Hoc Payments (Fall 2025)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29B8BA-97D5-409D-1415-9E4914871CC1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ACB29B-7605-697E-BF6A-23346682AD71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07B9C-86DE-5208-8779-3739199F99AD}"/>
              </a:ext>
            </a:extLst>
          </p:cNvPr>
          <p:cNvSpPr txBox="1"/>
          <p:nvPr/>
        </p:nvSpPr>
        <p:spPr>
          <a:xfrm>
            <a:off x="600076" y="1597898"/>
            <a:ext cx="1144789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tentative amount will be between </a:t>
            </a:r>
            <a:r>
              <a:rPr lang="en-US" sz="1600" b="1" dirty="0"/>
              <a:t>$10-$14 billion</a:t>
            </a:r>
            <a:r>
              <a:rPr lang="en-US" sz="1600" dirty="0"/>
              <a:t>. This was reported in WSJ and is not confirmed. 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Republican lawmakers want close to </a:t>
            </a:r>
            <a:r>
              <a:rPr lang="en-US" sz="1600" b="1" dirty="0"/>
              <a:t>$50 billion</a:t>
            </a:r>
            <a:r>
              <a:rPr lang="en-US" sz="1600" dirty="0"/>
              <a:t>, after an economic impact analysis of this year’s crops.</a:t>
            </a:r>
            <a:endParaRPr lang="en-US" sz="1600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Most of it to cover the US soybean export losses of around </a:t>
            </a:r>
            <a:r>
              <a:rPr lang="en-US" sz="1600" b="1" dirty="0"/>
              <a:t>$12 billion </a:t>
            </a:r>
            <a:r>
              <a:rPr lang="en-US" sz="1600" dirty="0"/>
              <a:t>to China.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Anticipated payments for Fall 2025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Ironically, the marketing year is not over yet - so China may yet buy beans from the US, given China's demand might be too high for even Brazil and Argentina to fulfill.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Thus, just like 2018/19 US soybean producers </a:t>
            </a:r>
            <a:r>
              <a:rPr lang="en-US" sz="1600" b="1" dirty="0"/>
              <a:t>might be getting overpaid </a:t>
            </a:r>
            <a:r>
              <a:rPr lang="en-US" sz="1600" dirty="0"/>
              <a:t>for their losses - but more analysis will be needed on this. (</a:t>
            </a:r>
            <a:r>
              <a:rPr lang="en-US" sz="1600" u="sng" dirty="0"/>
              <a:t>Source: </a:t>
            </a:r>
            <a:r>
              <a:rPr lang="en-US" sz="1600" dirty="0">
                <a:hlinkClick r:id="rId3"/>
              </a:rPr>
              <a:t>Giri, Peterson, Sharma – 2018</a:t>
            </a:r>
            <a:r>
              <a:rPr lang="en-US" sz="1600" dirty="0"/>
              <a:t>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per-acre amount might be around </a:t>
            </a:r>
            <a:r>
              <a:rPr lang="en-US" sz="1600" b="1" dirty="0"/>
              <a:t>$105/acre </a:t>
            </a:r>
            <a:r>
              <a:rPr lang="en-US" sz="1600" dirty="0"/>
              <a:t>for Soybeans (</a:t>
            </a:r>
            <a:r>
              <a:rPr lang="en-US" sz="1600" i="1" dirty="0"/>
              <a:t>do not cite this </a:t>
            </a:r>
            <a:r>
              <a:rPr lang="en-US" sz="1600" dirty="0"/>
              <a:t>–until further clarification!) and lesser amounts for corn and wheat.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/>
              <a:t>But this is not confirmed</a:t>
            </a:r>
            <a:r>
              <a:rPr lang="en-US" sz="1600" dirty="0"/>
              <a:t>, it may also vary by state - given the dominance of IL, MN and IA in soybean production.</a:t>
            </a:r>
          </a:p>
        </p:txBody>
      </p:sp>
    </p:spTree>
    <p:extLst>
      <p:ext uri="{BB962C8B-B14F-4D97-AF65-F5344CB8AC3E}">
        <p14:creationId xmlns:p14="http://schemas.microsoft.com/office/powerpoint/2010/main" val="62850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05BA-5B89-6C72-5F59-9C86E7701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E89B8B-060F-262F-3F60-A6412253FAAE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FD683F-DA1A-F7D1-EF27-0593C1F5A64E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99B72A-DB57-051C-D971-BD9B6B89D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0FA948-C587-179E-ECC8-26ECFC8B214B}"/>
              </a:ext>
            </a:extLst>
          </p:cNvPr>
          <p:cNvSpPr txBox="1"/>
          <p:nvPr/>
        </p:nvSpPr>
        <p:spPr>
          <a:xfrm>
            <a:off x="926081" y="392472"/>
            <a:ext cx="1046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Summary of Ad hoc Support Since 2018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ED87B-6CE2-3D40-FB36-D73FA20211DF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AF8D45-5196-B480-731C-D068D9B49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986304"/>
              </p:ext>
            </p:extLst>
          </p:nvPr>
        </p:nvGraphicFramePr>
        <p:xfrm>
          <a:off x="637575" y="1786513"/>
          <a:ext cx="10521153" cy="1854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891913">
                  <a:extLst>
                    <a:ext uri="{9D8B030D-6E8A-4147-A177-3AD203B41FA5}">
                      <a16:colId xmlns:a16="http://schemas.microsoft.com/office/drawing/2014/main" val="3807563362"/>
                    </a:ext>
                  </a:extLst>
                </a:gridCol>
                <a:gridCol w="1254824">
                  <a:extLst>
                    <a:ext uri="{9D8B030D-6E8A-4147-A177-3AD203B41FA5}">
                      <a16:colId xmlns:a16="http://schemas.microsoft.com/office/drawing/2014/main" val="1605754364"/>
                    </a:ext>
                  </a:extLst>
                </a:gridCol>
                <a:gridCol w="905193">
                  <a:extLst>
                    <a:ext uri="{9D8B030D-6E8A-4147-A177-3AD203B41FA5}">
                      <a16:colId xmlns:a16="http://schemas.microsoft.com/office/drawing/2014/main" val="592223"/>
                    </a:ext>
                  </a:extLst>
                </a:gridCol>
                <a:gridCol w="1101040">
                  <a:extLst>
                    <a:ext uri="{9D8B030D-6E8A-4147-A177-3AD203B41FA5}">
                      <a16:colId xmlns:a16="http://schemas.microsoft.com/office/drawing/2014/main" val="1281349278"/>
                    </a:ext>
                  </a:extLst>
                </a:gridCol>
                <a:gridCol w="1101040">
                  <a:extLst>
                    <a:ext uri="{9D8B030D-6E8A-4147-A177-3AD203B41FA5}">
                      <a16:colId xmlns:a16="http://schemas.microsoft.com/office/drawing/2014/main" val="3752482000"/>
                    </a:ext>
                  </a:extLst>
                </a:gridCol>
                <a:gridCol w="1267143">
                  <a:extLst>
                    <a:ext uri="{9D8B030D-6E8A-4147-A177-3AD203B41FA5}">
                      <a16:colId xmlns:a16="http://schemas.microsoft.com/office/drawing/2014/main" val="303578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 Hoc Program ($/acre)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Soybean 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Wheat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($B)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61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Market Facilitation Program (MFP)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2018/19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$111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$217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$23 B</a:t>
                      </a:r>
                      <a:endParaRPr lang="en-C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750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Coronavirus Food Assistance Payments (CFAP) 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2020/21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$80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$80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$22 B</a:t>
                      </a:r>
                      <a:endParaRPr lang="en-C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700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American Relief Act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$42.35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$27.46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$18.39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$ 10 B</a:t>
                      </a:r>
                      <a:endParaRPr lang="en-C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41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 Farm Aid (anticipated announcement**)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 (Fall)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$105*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$ 10 – 14 B</a:t>
                      </a:r>
                      <a:endParaRPr lang="en-C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6738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3DD57F4-B421-5D2E-2723-72F07753D2A0}"/>
              </a:ext>
            </a:extLst>
          </p:cNvPr>
          <p:cNvSpPr txBox="1"/>
          <p:nvPr/>
        </p:nvSpPr>
        <p:spPr>
          <a:xfrm>
            <a:off x="1100614" y="4699367"/>
            <a:ext cx="99907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Data sources: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00" dirty="0">
                <a:hlinkClick r:id="rId3"/>
              </a:rPr>
              <a:t>https://farmdocdaily.illinois.edu/2020/06/mfp-and-cfap-payments-corn-and-soybean-uses-and-future-farm-profitability.html</a:t>
            </a:r>
            <a:r>
              <a:rPr lang="en-CA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00" dirty="0">
                <a:hlinkClick r:id="rId4"/>
              </a:rPr>
              <a:t>https://www.jstor.org/stable/27098564</a:t>
            </a:r>
            <a:r>
              <a:rPr lang="en-CA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00" dirty="0">
                <a:hlinkClick r:id="rId5"/>
              </a:rPr>
              <a:t>https://www.agmanager.info/sites/default/files/pdf/WWW_AmericanReliefAct_01-29-25.pdf</a:t>
            </a:r>
            <a:r>
              <a:rPr lang="en-CA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00" dirty="0">
                <a:hlinkClick r:id="rId6"/>
              </a:rPr>
              <a:t>https://digitalcommons.unl.edu/cgi/viewcontent.cgi?article=2057&amp;context=agecon_cornhusker</a:t>
            </a:r>
            <a:r>
              <a:rPr lang="en-CA" sz="12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0A5BD-AADB-76A3-739F-B9B677AA7C5A}"/>
              </a:ext>
            </a:extLst>
          </p:cNvPr>
          <p:cNvSpPr txBox="1"/>
          <p:nvPr/>
        </p:nvSpPr>
        <p:spPr>
          <a:xfrm>
            <a:off x="637575" y="3742106"/>
            <a:ext cx="72681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*Cannot be cited with certainty yet</a:t>
            </a:r>
          </a:p>
          <a:p>
            <a:r>
              <a:rPr lang="en-US" sz="1100" dirty="0"/>
              <a:t>** No official announcement yet.</a:t>
            </a: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1391578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C49A2-77C4-41C1-49B4-0A5054AF8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0BB02C-2B8C-6CD4-84BF-49D922CCFFFC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1379DF-7A15-7B04-9F67-F61DCE4FECBA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C211C4-DA71-A506-B671-397FF5A3A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897C80-D923-C015-3530-1FFF7B1DFA64}"/>
              </a:ext>
            </a:extLst>
          </p:cNvPr>
          <p:cNvSpPr txBox="1"/>
          <p:nvPr/>
        </p:nvSpPr>
        <p:spPr>
          <a:xfrm>
            <a:off x="824752" y="635316"/>
            <a:ext cx="1046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“One Big Beautiful Bill” (OBBB) Changes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6338EA-D21C-0FA8-EE71-920FF642D5EC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8D94B3-B545-5FED-FA91-A83983D8D211}"/>
              </a:ext>
            </a:extLst>
          </p:cNvPr>
          <p:cNvSpPr txBox="1"/>
          <p:nvPr/>
        </p:nvSpPr>
        <p:spPr>
          <a:xfrm>
            <a:off x="7412037" y="3411119"/>
            <a:ext cx="33143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  <a:latin typeface="Interstate Black" pitchFamily="2" charset="77"/>
              </a:rPr>
              <a:t>28,000</a:t>
            </a:r>
          </a:p>
          <a:p>
            <a:pPr algn="ctr"/>
            <a:r>
              <a:rPr lang="en-CA" sz="1800" dirty="0">
                <a:solidFill>
                  <a:schemeClr val="bg1"/>
                </a:solidFill>
                <a:latin typeface="Interstate" pitchFamily="2" charset="77"/>
              </a:rPr>
              <a:t>farmer-members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0F4006-BC47-D4F6-01C1-F241D1290AF4}"/>
              </a:ext>
            </a:extLst>
          </p:cNvPr>
          <p:cNvSpPr txBox="1"/>
          <p:nvPr/>
        </p:nvSpPr>
        <p:spPr>
          <a:xfrm>
            <a:off x="688910" y="1934385"/>
            <a:ext cx="35433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Reference prices increased for all covered commodities (starting 2025).</a:t>
            </a:r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One-time base acre reallocation opportunity starting 2026.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Election changes — producers can make new elections for 2026–2031 period.</a:t>
            </a:r>
          </a:p>
          <a:p>
            <a:pPr lvl="1"/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2025 only: automatic “higher of PLC or ARC-CO” payment; no need to elect.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Payment limits increased (see cross-cutting section).</a:t>
            </a:r>
            <a:endParaRPr lang="en-CA" sz="1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EA41EA-7268-EA36-7E3B-FC725413E6C2}"/>
              </a:ext>
            </a:extLst>
          </p:cNvPr>
          <p:cNvSpPr txBox="1"/>
          <p:nvPr/>
        </p:nvSpPr>
        <p:spPr>
          <a:xfrm>
            <a:off x="7959792" y="1934385"/>
            <a:ext cx="35433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Coverage guarantee raised from 86% → 90% of benchmark revenue.</a:t>
            </a:r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Maximum payment rate (cap) increased from 10% → 12% of benchmark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Automatic higher-of payment between ARC-CO and PLC.</a:t>
            </a:r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Benchmark yield and price calculations remain the same, but higher guarantee increases payout potential.</a:t>
            </a:r>
            <a:endParaRPr lang="en-CA" sz="1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A4C6E9-ACEB-5269-FF30-6A8FF82DF82E}"/>
              </a:ext>
            </a:extLst>
          </p:cNvPr>
          <p:cNvSpPr txBox="1"/>
          <p:nvPr/>
        </p:nvSpPr>
        <p:spPr>
          <a:xfrm>
            <a:off x="4553846" y="1961863"/>
            <a:ext cx="30099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Marketing loan rates increased for major crops.</a:t>
            </a:r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Payment limits raised: From </a:t>
            </a:r>
            <a:r>
              <a:rPr lang="en-US" sz="1500" b="1" dirty="0"/>
              <a:t>$125,000 → $155,000 per </a:t>
            </a:r>
            <a:r>
              <a:rPr lang="en-US" sz="1500" dirty="0"/>
              <a:t>person/entity.</a:t>
            </a:r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Base acre updates: opportunity for new allocations (2026).</a:t>
            </a:r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Payment timing: 2025 crop year changes apply, but payments disbursed on usual schedule (Oct. 2026).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1BCBFB-3214-B9A3-6514-B04A67304BD8}"/>
              </a:ext>
            </a:extLst>
          </p:cNvPr>
          <p:cNvSpPr txBox="1"/>
          <p:nvPr/>
        </p:nvSpPr>
        <p:spPr>
          <a:xfrm>
            <a:off x="1373255" y="1565053"/>
            <a:ext cx="238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Loss Coverage</a:t>
            </a:r>
            <a:endParaRPr lang="en-CA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FC0BC7-7D79-1706-06B7-701FCD50FB33}"/>
              </a:ext>
            </a:extLst>
          </p:cNvPr>
          <p:cNvSpPr txBox="1"/>
          <p:nvPr/>
        </p:nvSpPr>
        <p:spPr>
          <a:xfrm>
            <a:off x="8299712" y="1592531"/>
            <a:ext cx="3314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Agricultural Risk Coverage</a:t>
            </a:r>
            <a:endParaRPr lang="en-CA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02E52B-FA20-6691-A613-F643065D8350}"/>
              </a:ext>
            </a:extLst>
          </p:cNvPr>
          <p:cNvCxnSpPr/>
          <p:nvPr/>
        </p:nvCxnSpPr>
        <p:spPr>
          <a:xfrm>
            <a:off x="3857625" y="1695450"/>
            <a:ext cx="771525" cy="266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B6B2E3-9C2A-66A2-980A-FE0B2DF6A7C8}"/>
              </a:ext>
            </a:extLst>
          </p:cNvPr>
          <p:cNvCxnSpPr>
            <a:stCxn id="26" idx="1"/>
          </p:cNvCxnSpPr>
          <p:nvPr/>
        </p:nvCxnSpPr>
        <p:spPr>
          <a:xfrm flipH="1">
            <a:off x="7563746" y="1777197"/>
            <a:ext cx="735966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75E5992-44C7-F9D0-3E53-A23686BA7B18}"/>
              </a:ext>
            </a:extLst>
          </p:cNvPr>
          <p:cNvSpPr/>
          <p:nvPr/>
        </p:nvSpPr>
        <p:spPr>
          <a:xfrm>
            <a:off x="4629150" y="1961863"/>
            <a:ext cx="2893878" cy="36293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E60673-83F2-887E-6670-66169926C3B2}"/>
              </a:ext>
            </a:extLst>
          </p:cNvPr>
          <p:cNvSpPr/>
          <p:nvPr/>
        </p:nvSpPr>
        <p:spPr>
          <a:xfrm>
            <a:off x="753035" y="1565053"/>
            <a:ext cx="3404765" cy="3951628"/>
          </a:xfrm>
          <a:prstGeom prst="rect">
            <a:avLst/>
          </a:prstGeom>
          <a:solidFill>
            <a:schemeClr val="accent6">
              <a:alpha val="2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5FC429-AE9A-EA40-5904-7B0191445977}"/>
              </a:ext>
            </a:extLst>
          </p:cNvPr>
          <p:cNvSpPr/>
          <p:nvPr/>
        </p:nvSpPr>
        <p:spPr>
          <a:xfrm>
            <a:off x="8029059" y="1565053"/>
            <a:ext cx="3404765" cy="3951628"/>
          </a:xfrm>
          <a:prstGeom prst="rect">
            <a:avLst/>
          </a:prstGeom>
          <a:solidFill>
            <a:schemeClr val="accent6">
              <a:alpha val="2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7879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0684FE-AFB2-1DE2-70D2-44B1F30CF40B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7BDDC5-4FE7-9DB7-25DC-E9E6DB5449F1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720840-E04F-B304-0C50-7498BC689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5F1B0D-199E-1F72-5351-2E74342EBDAD}"/>
              </a:ext>
            </a:extLst>
          </p:cNvPr>
          <p:cNvSpPr txBox="1"/>
          <p:nvPr/>
        </p:nvSpPr>
        <p:spPr>
          <a:xfrm>
            <a:off x="824752" y="466165"/>
            <a:ext cx="11081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RMP vs Title I Programming (US): </a:t>
            </a:r>
            <a:br>
              <a:rPr lang="en-US" sz="3600" b="1" dirty="0">
                <a:latin typeface="InterstateCondensed" pitchFamily="2" charset="77"/>
              </a:rPr>
            </a:br>
            <a:r>
              <a:rPr lang="en-US" sz="3600" b="1" dirty="0">
                <a:latin typeface="InterstateCondensed" pitchFamily="2" charset="77"/>
              </a:rPr>
              <a:t>what are the actual differences?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51BFB-A5E2-6210-142B-B518945162A0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0D564-74E8-5611-DD74-744175A0E876}"/>
              </a:ext>
            </a:extLst>
          </p:cNvPr>
          <p:cNvSpPr txBox="1"/>
          <p:nvPr/>
        </p:nvSpPr>
        <p:spPr>
          <a:xfrm>
            <a:off x="793846" y="2421319"/>
            <a:ext cx="50328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RMP –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Support Level </a:t>
            </a:r>
            <a:r>
              <a:rPr lang="en-US" dirty="0"/>
              <a:t>based on the AgriStability data from the preceding three-years.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GFO has annual input in the pricing.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Once set – does not change for the season.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negotiated – to a degree.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Producer premium for enrollment.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Higher maximum payment available (</a:t>
            </a:r>
            <a:r>
              <a:rPr lang="en-US" b="1" dirty="0"/>
              <a:t>$1.2 million </a:t>
            </a:r>
            <a:r>
              <a:rPr lang="en-US" dirty="0"/>
              <a:t>for G&amp;O) – but not representative for avg-sized producers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46D56-D68D-03A9-4B78-F88B12DEAF24}"/>
              </a:ext>
            </a:extLst>
          </p:cNvPr>
          <p:cNvSpPr txBox="1"/>
          <p:nvPr/>
        </p:nvSpPr>
        <p:spPr>
          <a:xfrm>
            <a:off x="6096000" y="2640575"/>
            <a:ext cx="50328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Reference Price </a:t>
            </a:r>
            <a:r>
              <a:rPr lang="en-US" dirty="0"/>
              <a:t>(statutory) in PLC is set by the Farm Bill. Or in the most recent case the One Big Beautiful Bill (where provisions)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Once set no way to change 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But the “effective reference price” has more controls allowed around it and can vary.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But producers still have no control over 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Maximum payment lower: $310,000 per family.*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enrollment cost.</a:t>
            </a:r>
          </a:p>
          <a:p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136DC-23D4-FCB2-3240-0E2436BE28B0}"/>
              </a:ext>
            </a:extLst>
          </p:cNvPr>
          <p:cNvSpPr txBox="1"/>
          <p:nvPr/>
        </p:nvSpPr>
        <p:spPr>
          <a:xfrm>
            <a:off x="1436892" y="1801498"/>
            <a:ext cx="9318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Support level (in RMP) is equivalent to the “reference price”/ “benchmark price” in Price Loss Coverage (PLC) and Agricultural Risk Coverage (ARC).</a:t>
            </a:r>
          </a:p>
          <a:p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EBC573-BC5B-E29A-CA78-440F6EE2AFB1}"/>
              </a:ext>
            </a:extLst>
          </p:cNvPr>
          <p:cNvSpPr txBox="1"/>
          <p:nvPr/>
        </p:nvSpPr>
        <p:spPr>
          <a:xfrm>
            <a:off x="6538500" y="5757757"/>
            <a:ext cx="4859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*Loopholes may exist, which might enable payments to nephews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1324404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189D9-6160-2762-0CD0-A477DB66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840E213-85FA-8B05-F962-E2E38E1AD471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7BCFF7-F7CD-4200-B8F2-EDD39988F1FD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A94EB4-C1B9-D537-5D09-69D8AF2E3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152E7D-FDCB-9761-B4B0-39613850272A}"/>
              </a:ext>
            </a:extLst>
          </p:cNvPr>
          <p:cNvSpPr txBox="1"/>
          <p:nvPr/>
        </p:nvSpPr>
        <p:spPr>
          <a:xfrm>
            <a:off x="876961" y="445794"/>
            <a:ext cx="11081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RMP vs Title I Programming (US): The Difference Drivers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9E39A2-C348-DD61-DFC2-63DAB2D3FB69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6E599-84A2-790F-D138-33ED4685F138}"/>
              </a:ext>
            </a:extLst>
          </p:cNvPr>
          <p:cNvSpPr txBox="1"/>
          <p:nvPr/>
        </p:nvSpPr>
        <p:spPr>
          <a:xfrm>
            <a:off x="195072" y="1514763"/>
            <a:ext cx="610286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chemeClr val="accent6">
                    <a:lumMod val="75000"/>
                  </a:schemeClr>
                </a:solidFill>
              </a:rPr>
              <a:t>Coverage Level: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u="sng" dirty="0"/>
              <a:t>RMP: </a:t>
            </a:r>
            <a:r>
              <a:rPr lang="en-US" sz="1600" dirty="0"/>
              <a:t>Maximum true coverage level is 40% due to Federal non-participation. </a:t>
            </a:r>
            <a:r>
              <a:rPr lang="en-US" sz="1600" i="1" dirty="0"/>
              <a:t>The </a:t>
            </a:r>
            <a:r>
              <a:rPr lang="en-US" sz="1600" b="1" i="1" dirty="0"/>
              <a:t>effective proration is even lower</a:t>
            </a:r>
            <a:r>
              <a:rPr lang="en-US" sz="1600" i="1" dirty="0"/>
              <a:t> </a:t>
            </a:r>
            <a:r>
              <a:rPr lang="en-US" sz="1600" dirty="0"/>
              <a:t>(see chart to the right).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PLC: </a:t>
            </a:r>
            <a:r>
              <a:rPr lang="en-US" sz="1600" dirty="0"/>
              <a:t>85% coverage level on base acres enrolled.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ARC-CO: </a:t>
            </a:r>
            <a:r>
              <a:rPr lang="en-US" sz="1600" dirty="0"/>
              <a:t>85% on base acres and 90% on benchmark revenue (increased from 86% last year).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ARC-CO </a:t>
            </a:r>
            <a:r>
              <a:rPr lang="en-US" sz="1600" dirty="0"/>
              <a:t>does have a 12% benchmark revenue cap. </a:t>
            </a:r>
            <a:endParaRPr lang="en-US" sz="1600" b="1" dirty="0"/>
          </a:p>
          <a:p>
            <a:pPr lvl="1"/>
            <a:endParaRPr lang="en-US" sz="1600" dirty="0"/>
          </a:p>
          <a:p>
            <a:r>
              <a:rPr lang="en-US" sz="1600" b="1" u="sng" dirty="0">
                <a:solidFill>
                  <a:schemeClr val="accent6">
                    <a:lumMod val="75000"/>
                  </a:schemeClr>
                </a:solidFill>
              </a:rPr>
              <a:t>Historical comparison: RMP vs Title 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quick examination over the past </a:t>
            </a:r>
            <a:r>
              <a:rPr lang="en-US" sz="1600" b="1" dirty="0"/>
              <a:t>7</a:t>
            </a:r>
            <a:r>
              <a:rPr lang="en-US" sz="1600" dirty="0"/>
              <a:t> years will show that RMP </a:t>
            </a:r>
            <a:r>
              <a:rPr lang="en-US" sz="1600" b="1" i="1" dirty="0"/>
              <a:t>has triggered more often </a:t>
            </a:r>
            <a:r>
              <a:rPr lang="en-US" sz="1600" dirty="0"/>
              <a:t>than PLC.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Until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comparison ARC-CO often triggers if not on a wide scale, even during years where PLC does not trigger at 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Primarily due to county-level yield failure.   </a:t>
            </a:r>
            <a:endParaRPr lang="en-CA" sz="1600" dirty="0"/>
          </a:p>
        </p:txBody>
      </p:sp>
      <p:pic>
        <p:nvPicPr>
          <p:cNvPr id="15" name="Picture 14" descr="A graph with green lines and numbers&#10;&#10;AI-generated content may be incorrect.">
            <a:extLst>
              <a:ext uri="{FF2B5EF4-FFF2-40B4-BE49-F238E27FC236}">
                <a16:creationId xmlns:a16="http://schemas.microsoft.com/office/drawing/2014/main" id="{8F452828-288A-9E89-6493-B07EAA5F5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4" y="1589407"/>
            <a:ext cx="5660136" cy="33709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90F9BB-9E70-C942-5977-D23C5D94EAD6}"/>
              </a:ext>
            </a:extLst>
          </p:cNvPr>
          <p:cNvSpPr txBox="1"/>
          <p:nvPr/>
        </p:nvSpPr>
        <p:spPr>
          <a:xfrm>
            <a:off x="8766814" y="1306183"/>
            <a:ext cx="7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RMP</a:t>
            </a:r>
            <a:endParaRPr lang="en-C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B009F5-8435-B8DE-D621-5C03E350B269}"/>
              </a:ext>
            </a:extLst>
          </p:cNvPr>
          <p:cNvSpPr txBox="1"/>
          <p:nvPr/>
        </p:nvSpPr>
        <p:spPr>
          <a:xfrm>
            <a:off x="1444775" y="6150596"/>
            <a:ext cx="9706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Data Sources: </a:t>
            </a:r>
            <a:r>
              <a:rPr lang="en-US" sz="1100" dirty="0"/>
              <a:t>OMAFA &amp; </a:t>
            </a:r>
            <a:r>
              <a:rPr lang="en-US" sz="1100" dirty="0">
                <a:hlinkClick r:id="rId4"/>
              </a:rPr>
              <a:t>https://www.fsa.usda.gov/sites/default/files/2025-09/FSA_ARC%20%26%20PLC_3pg_Fact%20Sheet-SEPT%202025_final.pdf</a:t>
            </a:r>
            <a:r>
              <a:rPr lang="en-US" sz="1100" dirty="0"/>
              <a:t> </a:t>
            </a: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4167489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E4EB9-A1FB-9FEC-4AB3-A0132E49C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D40B99-1443-7550-226A-4CAB5A6C1E56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8792CE-D4E0-67B8-03F0-3C1AE1D251C6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3630A-59CA-2C60-E4A1-5B4DD17DB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D253AA-1A93-7539-1B95-48D186E92831}"/>
              </a:ext>
            </a:extLst>
          </p:cNvPr>
          <p:cNvSpPr txBox="1"/>
          <p:nvPr/>
        </p:nvSpPr>
        <p:spPr>
          <a:xfrm>
            <a:off x="837600" y="243102"/>
            <a:ext cx="1135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RMP vs Title I Programming (US): </a:t>
            </a:r>
            <a:br>
              <a:rPr lang="en-US" sz="3600" b="1" dirty="0">
                <a:latin typeface="InterstateCondensed" pitchFamily="2" charset="77"/>
              </a:rPr>
            </a:br>
            <a:r>
              <a:rPr lang="en-US" sz="3600" b="1" dirty="0">
                <a:latin typeface="InterstateCondensed" pitchFamily="2" charset="77"/>
              </a:rPr>
              <a:t>Explained with an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709387-F703-77DD-68D5-E0BA97BF24D6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6939A-F017-E536-D331-260FB9EC0885}"/>
              </a:ext>
            </a:extLst>
          </p:cNvPr>
          <p:cNvSpPr txBox="1"/>
          <p:nvPr/>
        </p:nvSpPr>
        <p:spPr>
          <a:xfrm>
            <a:off x="1713744" y="1786726"/>
            <a:ext cx="18964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RMP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9A2C0B-84E0-8632-0ACD-BBEE9F0DD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064410"/>
              </p:ext>
            </p:extLst>
          </p:nvPr>
        </p:nvGraphicFramePr>
        <p:xfrm>
          <a:off x="139741" y="2440426"/>
          <a:ext cx="3929591" cy="1854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614041">
                  <a:extLst>
                    <a:ext uri="{9D8B030D-6E8A-4147-A177-3AD203B41FA5}">
                      <a16:colId xmlns:a16="http://schemas.microsoft.com/office/drawing/2014/main" val="1820308577"/>
                    </a:ext>
                  </a:extLst>
                </a:gridCol>
                <a:gridCol w="1315550">
                  <a:extLst>
                    <a:ext uri="{9D8B030D-6E8A-4147-A177-3AD203B41FA5}">
                      <a16:colId xmlns:a16="http://schemas.microsoft.com/office/drawing/2014/main" val="713748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85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 level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$6.72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73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Effective Coverage Level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11.86%</a:t>
                      </a:r>
                      <a:endParaRPr lang="en-CA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21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Cash price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$5.42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1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Payment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$27,752.4</a:t>
                      </a:r>
                      <a:endParaRPr lang="en-CA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8172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9C3F3B8-C721-C315-52EF-8F111B5ADA93}"/>
              </a:ext>
            </a:extLst>
          </p:cNvPr>
          <p:cNvSpPr txBox="1"/>
          <p:nvPr/>
        </p:nvSpPr>
        <p:spPr>
          <a:xfrm>
            <a:off x="3139998" y="1678945"/>
            <a:ext cx="5912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1,000 acres, 180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bu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– corn producer (all values in CAD)</a:t>
            </a:r>
            <a:endParaRPr lang="en-CA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69C95-E322-D036-91D0-4EE5100149EA}"/>
              </a:ext>
            </a:extLst>
          </p:cNvPr>
          <p:cNvSpPr txBox="1"/>
          <p:nvPr/>
        </p:nvSpPr>
        <p:spPr>
          <a:xfrm>
            <a:off x="5565967" y="2072514"/>
            <a:ext cx="600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PLC</a:t>
            </a:r>
            <a:endParaRPr lang="en-CA" b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062EA6F-50BA-25F3-0F3A-CCD8561C7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449311"/>
              </p:ext>
            </p:extLst>
          </p:nvPr>
        </p:nvGraphicFramePr>
        <p:xfrm>
          <a:off x="4131204" y="2440426"/>
          <a:ext cx="3929591" cy="1854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746965">
                  <a:extLst>
                    <a:ext uri="{9D8B030D-6E8A-4147-A177-3AD203B41FA5}">
                      <a16:colId xmlns:a16="http://schemas.microsoft.com/office/drawing/2014/main" val="1820308577"/>
                    </a:ext>
                  </a:extLst>
                </a:gridCol>
                <a:gridCol w="1182626">
                  <a:extLst>
                    <a:ext uri="{9D8B030D-6E8A-4147-A177-3AD203B41FA5}">
                      <a16:colId xmlns:a16="http://schemas.microsoft.com/office/drawing/2014/main" val="713748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85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Effective Reference Price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$6.14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73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Coverage Level (BA)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85%</a:t>
                      </a:r>
                      <a:endParaRPr lang="en-C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21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MYA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$5.42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1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Payment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$110,160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8172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DD920F2-BC1B-C185-00BE-5A41CBD782D1}"/>
              </a:ext>
            </a:extLst>
          </p:cNvPr>
          <p:cNvSpPr txBox="1"/>
          <p:nvPr/>
        </p:nvSpPr>
        <p:spPr>
          <a:xfrm>
            <a:off x="9642383" y="2063013"/>
            <a:ext cx="1046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ARC-CO</a:t>
            </a:r>
            <a:endParaRPr lang="en-CA" b="1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A2553F0-A510-4C54-19C6-7C9A5094D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659897"/>
              </p:ext>
            </p:extLst>
          </p:nvPr>
        </p:nvGraphicFramePr>
        <p:xfrm>
          <a:off x="8122668" y="2432345"/>
          <a:ext cx="3929591" cy="25958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02660">
                  <a:extLst>
                    <a:ext uri="{9D8B030D-6E8A-4147-A177-3AD203B41FA5}">
                      <a16:colId xmlns:a16="http://schemas.microsoft.com/office/drawing/2014/main" val="1820308577"/>
                    </a:ext>
                  </a:extLst>
                </a:gridCol>
                <a:gridCol w="1426931">
                  <a:extLst>
                    <a:ext uri="{9D8B030D-6E8A-4147-A177-3AD203B41FA5}">
                      <a16:colId xmlns:a16="http://schemas.microsoft.com/office/drawing/2014/main" val="713748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85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Benchmark Price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$6.99</a:t>
                      </a:r>
                      <a:endParaRPr lang="en-C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73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Benchmark Revenue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$1,259.34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26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Coverage Level (BA)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85%</a:t>
                      </a:r>
                      <a:endParaRPr lang="en-C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194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MYA (Actual Price)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$5.42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1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Actual Revenue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$975.78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386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Payment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$125,934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8172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7DAC61-F2FB-4B3A-35D0-9681DCBC3EBB}"/>
              </a:ext>
            </a:extLst>
          </p:cNvPr>
          <p:cNvSpPr txBox="1"/>
          <p:nvPr/>
        </p:nvSpPr>
        <p:spPr>
          <a:xfrm>
            <a:off x="443113" y="4500611"/>
            <a:ext cx="738602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For the 2025 year, OBBB had a special rule where producers regardless of whether enrolled in PLC or ARC, </a:t>
            </a:r>
            <a:r>
              <a:rPr lang="en-US" sz="1500" b="1" dirty="0"/>
              <a:t>will receive the highest payment of either</a:t>
            </a:r>
            <a:r>
              <a:rPr lang="en-US" sz="1500" dirty="0"/>
              <a:t>: Max(PLC, ARC-CO) – </a:t>
            </a:r>
            <a:r>
              <a:rPr lang="en-US" sz="1500" i="1" dirty="0"/>
              <a:t>only valid for 2025</a:t>
            </a:r>
            <a:r>
              <a:rPr lang="en-US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The Maximum payment for PLC/ARC is capped at $215,450 (CAD) ($155k USD).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ARC-CO payment are capped at </a:t>
            </a:r>
            <a:r>
              <a:rPr lang="en-US" sz="1500" b="1" dirty="0"/>
              <a:t>12%</a:t>
            </a:r>
            <a:r>
              <a:rPr lang="en-US" sz="1500" dirty="0"/>
              <a:t> of benchmark revenue. </a:t>
            </a:r>
            <a:endParaRPr lang="en-CA" sz="15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33C076-EDEB-CDCB-58CD-FAD1CB2A8DFA}"/>
              </a:ext>
            </a:extLst>
          </p:cNvPr>
          <p:cNvCxnSpPr>
            <a:cxnSpLocks/>
          </p:cNvCxnSpPr>
          <p:nvPr/>
        </p:nvCxnSpPr>
        <p:spPr>
          <a:xfrm flipV="1">
            <a:off x="10689336" y="5056218"/>
            <a:ext cx="144614" cy="338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F099CED-D35D-3041-3499-5324818CED9F}"/>
              </a:ext>
            </a:extLst>
          </p:cNvPr>
          <p:cNvSpPr txBox="1"/>
          <p:nvPr/>
        </p:nvSpPr>
        <p:spPr>
          <a:xfrm>
            <a:off x="8198418" y="5422458"/>
            <a:ext cx="39295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All of this payment is in effect driven by a lower MYA, a county-level yield reduction might further increase the payment.</a:t>
            </a:r>
            <a:endParaRPr lang="en-CA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340B7C-8227-4EB4-A0C1-93CBC45F6693}"/>
              </a:ext>
            </a:extLst>
          </p:cNvPr>
          <p:cNvSpPr txBox="1"/>
          <p:nvPr/>
        </p:nvSpPr>
        <p:spPr>
          <a:xfrm>
            <a:off x="1270536" y="6127690"/>
            <a:ext cx="6558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Data sources: </a:t>
            </a:r>
            <a:r>
              <a:rPr lang="en-US" sz="900" dirty="0"/>
              <a:t>OMAFA &amp; USDA (PLC/ARC database) - </a:t>
            </a:r>
            <a:r>
              <a:rPr lang="en-US" sz="900" dirty="0">
                <a:hlinkClick r:id="rId3"/>
              </a:rPr>
              <a:t>https://www.fsa.usda.gov/resources/programs/arc-plc/program-data</a:t>
            </a:r>
            <a:r>
              <a:rPr lang="en-US" sz="900" dirty="0"/>
              <a:t>  - </a:t>
            </a:r>
            <a:endParaRPr lang="en-CA" sz="900" dirty="0"/>
          </a:p>
        </p:txBody>
      </p:sp>
    </p:spTree>
    <p:extLst>
      <p:ext uri="{BB962C8B-B14F-4D97-AF65-F5344CB8AC3E}">
        <p14:creationId xmlns:p14="http://schemas.microsoft.com/office/powerpoint/2010/main" val="2182277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3FD80-7DB9-6B34-227E-6E4C16553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676BAA-DBDF-0A83-FFB4-3928A5F09181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BA8BE6-C0FF-2058-F0ED-89D239F2B4D1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53BDEB-9A74-9B9C-40BA-8D12E81E4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F3087-B638-AE0A-2129-BEEC06B621D0}"/>
              </a:ext>
            </a:extLst>
          </p:cNvPr>
          <p:cNvSpPr txBox="1"/>
          <p:nvPr/>
        </p:nvSpPr>
        <p:spPr>
          <a:xfrm>
            <a:off x="824752" y="466165"/>
            <a:ext cx="11081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Crop Insurance: The Difference Drivers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92BA0C-821E-3965-353C-E794FC6EB09F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A8A0D-936F-6369-DD87-CDB573F1B7E3}"/>
              </a:ext>
            </a:extLst>
          </p:cNvPr>
          <p:cNvSpPr txBox="1"/>
          <p:nvPr/>
        </p:nvSpPr>
        <p:spPr>
          <a:xfrm>
            <a:off x="837600" y="1793743"/>
            <a:ext cx="50022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Canada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differentiator: only </a:t>
            </a:r>
            <a:r>
              <a:rPr lang="en-US" b="1" dirty="0"/>
              <a:t>yield protection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individualized pricing coverage.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Provincial-level customization in insurance programming.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Quality coverage available.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area-based programs available in the Prairies.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Private hail insurance (100% producer funded in Manitoba and Alberta)  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DCE81-2499-8B94-CB59-B4DF7AD8A4E6}"/>
              </a:ext>
            </a:extLst>
          </p:cNvPr>
          <p:cNvSpPr txBox="1"/>
          <p:nvPr/>
        </p:nvSpPr>
        <p:spPr>
          <a:xfrm>
            <a:off x="6096000" y="1726966"/>
            <a:ext cx="52857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United States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differentiator: </a:t>
            </a:r>
            <a:r>
              <a:rPr lang="en-US" b="1" dirty="0"/>
              <a:t>Revenue Protection.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Offers individualized pricing protection.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clubbed with area-based programs.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Coverage level can reach </a:t>
            </a:r>
            <a:r>
              <a:rPr lang="en-US" b="1" dirty="0"/>
              <a:t>95%</a:t>
            </a:r>
            <a:r>
              <a:rPr lang="en-US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Quality coverage available.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Private crop insurance agents sell policies.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Research shows that policies are sold as revenue maximizers, less as risk mitigation.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Every policy is offered Federally.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Producers have a choice to exclude their harvest price if they do not contract.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459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68BC1-DA80-4797-8C0D-6EE4D3BD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EFACBA-B9C5-5828-045B-51A7FA277214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3F311D-85F1-D975-370C-E38346BABB1E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368A3-068C-42D8-B912-0291EB9C5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5E4252-F1EA-7234-8AAF-C3C4384DDEC7}"/>
              </a:ext>
            </a:extLst>
          </p:cNvPr>
          <p:cNvSpPr txBox="1"/>
          <p:nvPr/>
        </p:nvSpPr>
        <p:spPr>
          <a:xfrm>
            <a:off x="981075" y="-2298"/>
            <a:ext cx="5603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Crop Insurance: </a:t>
            </a:r>
          </a:p>
          <a:p>
            <a:r>
              <a:rPr lang="en-US" sz="3600" b="1" dirty="0">
                <a:latin typeface="InterstateCondensed" pitchFamily="2" charset="77"/>
              </a:rPr>
              <a:t>Explained with an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D804D-FA8C-83B7-63E4-5EE8D92E652A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82B83A-2DDC-44EB-0FB5-1F0DD95BE6D2}"/>
              </a:ext>
            </a:extLst>
          </p:cNvPr>
          <p:cNvSpPr txBox="1"/>
          <p:nvPr/>
        </p:nvSpPr>
        <p:spPr>
          <a:xfrm>
            <a:off x="2416190" y="1646647"/>
            <a:ext cx="21467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Canada (Ontario)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3B3DB6-2232-9D5E-1B6D-E8593AA42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69888"/>
              </p:ext>
            </p:extLst>
          </p:nvPr>
        </p:nvGraphicFramePr>
        <p:xfrm>
          <a:off x="1412266" y="2311175"/>
          <a:ext cx="3929591" cy="29667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614041">
                  <a:extLst>
                    <a:ext uri="{9D8B030D-6E8A-4147-A177-3AD203B41FA5}">
                      <a16:colId xmlns:a16="http://schemas.microsoft.com/office/drawing/2014/main" val="1820308577"/>
                    </a:ext>
                  </a:extLst>
                </a:gridCol>
                <a:gridCol w="1315550">
                  <a:extLst>
                    <a:ext uri="{9D8B030D-6E8A-4147-A177-3AD203B41FA5}">
                      <a16:colId xmlns:a16="http://schemas.microsoft.com/office/drawing/2014/main" val="713748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85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AFY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73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Coverage Level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90%</a:t>
                      </a:r>
                      <a:endParaRPr lang="en-C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21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Guarantee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162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86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Premium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$11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80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Actual Yield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135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426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Floating price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$5.42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1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Payment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$135.34</a:t>
                      </a:r>
                      <a:endParaRPr lang="en-CA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817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3CBABF4-0AE2-E62C-10C5-F611C08FB67E}"/>
              </a:ext>
            </a:extLst>
          </p:cNvPr>
          <p:cNvSpPr txBox="1"/>
          <p:nvPr/>
        </p:nvSpPr>
        <p:spPr>
          <a:xfrm>
            <a:off x="8794481" y="45257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</a:t>
            </a:r>
            <a:endParaRPr lang="en-CA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498754-5AC4-1C33-D57A-9515C7F0D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092306"/>
              </p:ext>
            </p:extLst>
          </p:nvPr>
        </p:nvGraphicFramePr>
        <p:xfrm>
          <a:off x="6658267" y="4796"/>
          <a:ext cx="5265509" cy="58826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46604">
                  <a:extLst>
                    <a:ext uri="{9D8B030D-6E8A-4147-A177-3AD203B41FA5}">
                      <a16:colId xmlns:a16="http://schemas.microsoft.com/office/drawing/2014/main" val="1820308577"/>
                    </a:ext>
                  </a:extLst>
                </a:gridCol>
                <a:gridCol w="2718905">
                  <a:extLst>
                    <a:ext uri="{9D8B030D-6E8A-4147-A177-3AD203B41FA5}">
                      <a16:colId xmlns:a16="http://schemas.microsoft.com/office/drawing/2014/main" val="713748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Low Yield Example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856524"/>
                  </a:ext>
                </a:extLst>
              </a:tr>
              <a:tr h="302707">
                <a:tc>
                  <a:txBody>
                    <a:bodyPr/>
                    <a:lstStyle/>
                    <a:p>
                      <a:r>
                        <a:rPr lang="en-US" sz="1400" dirty="0"/>
                        <a:t>Projected Price ($/</a:t>
                      </a:r>
                      <a:r>
                        <a:rPr lang="en-US" sz="1400" dirty="0" err="1"/>
                        <a:t>bu</a:t>
                      </a:r>
                      <a:r>
                        <a:rPr lang="en-US" sz="1400" dirty="0"/>
                        <a:t>)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$6.53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736235"/>
                  </a:ext>
                </a:extLst>
              </a:tr>
              <a:tr h="240670">
                <a:tc>
                  <a:txBody>
                    <a:bodyPr/>
                    <a:lstStyle/>
                    <a:p>
                      <a:r>
                        <a:rPr lang="en-US" sz="1400" dirty="0"/>
                        <a:t>Approved Yield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180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7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Coverage Level 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85%</a:t>
                      </a:r>
                      <a:endParaRPr lang="en-CA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21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Unit type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Enterprise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92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Guarantee (PP*AY*0.85)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$999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307493"/>
                  </a:ext>
                </a:extLst>
              </a:tr>
              <a:tr h="135067">
                <a:tc>
                  <a:txBody>
                    <a:bodyPr/>
                    <a:lstStyle/>
                    <a:p>
                      <a:r>
                        <a:rPr lang="en-US" sz="1400" dirty="0"/>
                        <a:t>Producer premium- CI ($/acre)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$34.75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04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Actual Yield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135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735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Harvest Price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$5.42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12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Actual Revenue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$731.7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01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Total Payment (Net indemnity)</a:t>
                      </a:r>
                      <a:endParaRPr lang="en-CA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$232.55</a:t>
                      </a:r>
                      <a:endParaRPr lang="en-CA" sz="14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81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Endorsements</a:t>
                      </a:r>
                      <a:endParaRPr lang="en-CA" sz="14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(Lancaster county yield = 160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bu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2456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SCO – producer premium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$5.56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216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SCO – coverage level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90% (buy-up +5%)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145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SCO – payment 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$53.27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613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ECO – producer premium 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$20.85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568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ECO – coverage level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95% (buy-up +10%)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995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ECO - payment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$37.94</a:t>
                      </a:r>
                      <a:endParaRPr lang="en-CA" sz="14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164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536C75-F5C4-813A-4156-6A8A2884E9BF}"/>
              </a:ext>
            </a:extLst>
          </p:cNvPr>
          <p:cNvSpPr txBox="1"/>
          <p:nvPr/>
        </p:nvSpPr>
        <p:spPr>
          <a:xfrm>
            <a:off x="1016113" y="1184982"/>
            <a:ext cx="3736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All values in CAD, commodity: corn</a:t>
            </a:r>
            <a:endParaRPr lang="en-CA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A7662E-A114-5841-2584-08C1116A8AFE}"/>
              </a:ext>
            </a:extLst>
          </p:cNvPr>
          <p:cNvSpPr txBox="1"/>
          <p:nvPr/>
        </p:nvSpPr>
        <p:spPr>
          <a:xfrm>
            <a:off x="5930653" y="1290364"/>
            <a:ext cx="4904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US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34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B1AC3-6417-FA83-E304-6D76F2F0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EAB546-4808-E090-E39F-32C478005067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31CE00-5C97-8224-3420-E177F18010A5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AD39F-EDC3-3508-31F4-86A90B03F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7E61C8-7591-40DE-89D4-BC126C33586D}"/>
              </a:ext>
            </a:extLst>
          </p:cNvPr>
          <p:cNvSpPr txBox="1"/>
          <p:nvPr/>
        </p:nvSpPr>
        <p:spPr>
          <a:xfrm rot="16200000">
            <a:off x="-989959" y="2559379"/>
            <a:ext cx="3574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Other Scenarios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6A484-264E-7EDE-78E5-BEF28B9695EF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F0138-2553-2D5E-0064-DF873B2FCDF6}"/>
              </a:ext>
            </a:extLst>
          </p:cNvPr>
          <p:cNvSpPr txBox="1"/>
          <p:nvPr/>
        </p:nvSpPr>
        <p:spPr>
          <a:xfrm>
            <a:off x="8794481" y="45257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</a:t>
            </a:r>
            <a:endParaRPr lang="en-CA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845068-CE43-CA2B-5AF8-F52DDEC63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47611"/>
              </p:ext>
            </p:extLst>
          </p:nvPr>
        </p:nvGraphicFramePr>
        <p:xfrm>
          <a:off x="6757358" y="116222"/>
          <a:ext cx="5265509" cy="58826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46604">
                  <a:extLst>
                    <a:ext uri="{9D8B030D-6E8A-4147-A177-3AD203B41FA5}">
                      <a16:colId xmlns:a16="http://schemas.microsoft.com/office/drawing/2014/main" val="1820308577"/>
                    </a:ext>
                  </a:extLst>
                </a:gridCol>
                <a:gridCol w="2718905">
                  <a:extLst>
                    <a:ext uri="{9D8B030D-6E8A-4147-A177-3AD203B41FA5}">
                      <a16:colId xmlns:a16="http://schemas.microsoft.com/office/drawing/2014/main" val="71374820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Normal Yield and Low Price Example</a:t>
                      </a:r>
                      <a:endParaRPr lang="en-CA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856524"/>
                  </a:ext>
                </a:extLst>
              </a:tr>
              <a:tr h="302707">
                <a:tc>
                  <a:txBody>
                    <a:bodyPr/>
                    <a:lstStyle/>
                    <a:p>
                      <a:r>
                        <a:rPr lang="en-US" sz="1400" dirty="0"/>
                        <a:t>Projected Price ($/</a:t>
                      </a:r>
                      <a:r>
                        <a:rPr lang="en-US" sz="1400" dirty="0" err="1"/>
                        <a:t>bu</a:t>
                      </a:r>
                      <a:r>
                        <a:rPr lang="en-US" sz="1400" dirty="0"/>
                        <a:t>)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$6.53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736235"/>
                  </a:ext>
                </a:extLst>
              </a:tr>
              <a:tr h="240670">
                <a:tc>
                  <a:txBody>
                    <a:bodyPr/>
                    <a:lstStyle/>
                    <a:p>
                      <a:r>
                        <a:rPr lang="en-US" sz="1400" dirty="0"/>
                        <a:t>APH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180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7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Coverage Level 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85%</a:t>
                      </a:r>
                      <a:endParaRPr lang="en-CA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21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Unit type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Enterprise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92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Guarantee (PP*AY*0.85)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$999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307493"/>
                  </a:ext>
                </a:extLst>
              </a:tr>
              <a:tr h="135067">
                <a:tc>
                  <a:txBody>
                    <a:bodyPr/>
                    <a:lstStyle/>
                    <a:p>
                      <a:r>
                        <a:rPr lang="en-US" sz="1400" dirty="0"/>
                        <a:t>Producer premium- CI ($/acre)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$34.75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04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Actual Yield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135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735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Harvest Price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$5.42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12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Actual Revenue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$975.6</a:t>
                      </a:r>
                      <a:endParaRPr lang="en-CA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01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Total Payment (Net indemnity)</a:t>
                      </a:r>
                      <a:endParaRPr lang="en-CA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-$11.26</a:t>
                      </a:r>
                      <a:endParaRPr lang="en-CA" sz="14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81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Endorsements</a:t>
                      </a:r>
                      <a:endParaRPr lang="en-CA" sz="14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(Lancaster county yield = 160)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2456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SCO – producer premium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$5.56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216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SCO – coverage level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90% (buy-up +5%)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145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SCO – payment 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$53.27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613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ECO – producer premium 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$20.85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568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ECO – coverage level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95% (buy-up +10%)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995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ECO - payment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$37.94</a:t>
                      </a:r>
                      <a:endParaRPr lang="en-CA" sz="14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164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BC8922-B14E-2880-FC6D-695AB30F90B0}"/>
              </a:ext>
            </a:extLst>
          </p:cNvPr>
          <p:cNvSpPr txBox="1"/>
          <p:nvPr/>
        </p:nvSpPr>
        <p:spPr>
          <a:xfrm rot="16200000">
            <a:off x="-967993" y="2423056"/>
            <a:ext cx="277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values in CAD</a:t>
            </a:r>
            <a:endParaRPr lang="en-CA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BF9BE0-E980-E54F-3828-0DA24F385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824636"/>
              </p:ext>
            </p:extLst>
          </p:nvPr>
        </p:nvGraphicFramePr>
        <p:xfrm>
          <a:off x="1465758" y="116222"/>
          <a:ext cx="5265509" cy="58826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39314">
                  <a:extLst>
                    <a:ext uri="{9D8B030D-6E8A-4147-A177-3AD203B41FA5}">
                      <a16:colId xmlns:a16="http://schemas.microsoft.com/office/drawing/2014/main" val="1820308577"/>
                    </a:ext>
                  </a:extLst>
                </a:gridCol>
                <a:gridCol w="2726195">
                  <a:extLst>
                    <a:ext uri="{9D8B030D-6E8A-4147-A177-3AD203B41FA5}">
                      <a16:colId xmlns:a16="http://schemas.microsoft.com/office/drawing/2014/main" val="71374820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Low Yield and High Price Example</a:t>
                      </a:r>
                      <a:endParaRPr lang="en-CA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856524"/>
                  </a:ext>
                </a:extLst>
              </a:tr>
              <a:tr h="302707">
                <a:tc>
                  <a:txBody>
                    <a:bodyPr/>
                    <a:lstStyle/>
                    <a:p>
                      <a:r>
                        <a:rPr lang="en-US" sz="1400" dirty="0"/>
                        <a:t>Projected Price ($/</a:t>
                      </a:r>
                      <a:r>
                        <a:rPr lang="en-US" sz="1400" dirty="0" err="1"/>
                        <a:t>bu</a:t>
                      </a:r>
                      <a:r>
                        <a:rPr lang="en-US" sz="1400" dirty="0"/>
                        <a:t>)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$6.53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736235"/>
                  </a:ext>
                </a:extLst>
              </a:tr>
              <a:tr h="240670">
                <a:tc>
                  <a:txBody>
                    <a:bodyPr/>
                    <a:lstStyle/>
                    <a:p>
                      <a:r>
                        <a:rPr lang="en-US" sz="1400" dirty="0"/>
                        <a:t>APH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180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7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Coverage Level 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85%</a:t>
                      </a:r>
                      <a:endParaRPr lang="en-CA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21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Unit type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Enterprise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92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Guarantee (PP*AY*0.85)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$1,224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307493"/>
                  </a:ext>
                </a:extLst>
              </a:tr>
              <a:tr h="135067">
                <a:tc>
                  <a:txBody>
                    <a:bodyPr/>
                    <a:lstStyle/>
                    <a:p>
                      <a:r>
                        <a:rPr lang="en-US" sz="1400" dirty="0"/>
                        <a:t>Producer premium- CI ($/acre)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$34.75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04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Actual Yield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135</a:t>
                      </a:r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735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Harvest Price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$8.00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12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Actual Revenue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$731.7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01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Total Payment (Net indemnity)</a:t>
                      </a:r>
                      <a:endParaRPr lang="en-CA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$109.25</a:t>
                      </a:r>
                      <a:endParaRPr lang="en-CA" sz="14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81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Endorsements</a:t>
                      </a:r>
                      <a:endParaRPr lang="en-CA" sz="14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(Lancaster county yield = 160)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2456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SCO – producer premium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$1.11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216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SCO – coverage level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90% (buy-up +5%)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145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SCO – payment 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-$4.00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613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ECO – producer premium 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$20.85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568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ECO – coverage level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95% (buy-up +10%)</a:t>
                      </a:r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995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ECO - payment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-$15.00</a:t>
                      </a:r>
                      <a:endParaRPr lang="en-CA" sz="14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16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956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87761-E4B4-1FDF-EA9E-11331620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845D1E-7276-6EFD-40B1-B4F15A753709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91563-A09D-3124-9283-370C6948C650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B94DB-2994-3787-CDBD-F447CF365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10AC87-997E-8EBB-0E6A-857A78CFF0FC}"/>
              </a:ext>
            </a:extLst>
          </p:cNvPr>
          <p:cNvSpPr txBox="1"/>
          <p:nvPr/>
        </p:nvSpPr>
        <p:spPr>
          <a:xfrm>
            <a:off x="837600" y="142996"/>
            <a:ext cx="11081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Crop Insurance: ON compared with Other Provinces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9BA992-4EB3-E259-FBD1-B60945CAD2A7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11542-B717-0701-51C8-75C0566E3308}"/>
              </a:ext>
            </a:extLst>
          </p:cNvPr>
          <p:cNvSpPr txBox="1"/>
          <p:nvPr/>
        </p:nvSpPr>
        <p:spPr>
          <a:xfrm>
            <a:off x="210110" y="1466823"/>
            <a:ext cx="49339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also comprehensively compare BRM programming between the Prairies (SK, MB and AB) and Eastern Canada (Ontario and Quebec).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Federal programming is the same across provinces for AgriInvest and AgriStability, holding ANS and reference margins constant, respectively – lead to similar outcomes.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main comparison was for crop insurance programming. </a:t>
            </a:r>
            <a:endParaRPr lang="en-CA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387D49-9C37-F653-DCBE-B0533E038FA0}"/>
              </a:ext>
            </a:extLst>
          </p:cNvPr>
          <p:cNvSpPr txBox="1"/>
          <p:nvPr/>
        </p:nvSpPr>
        <p:spPr>
          <a:xfrm>
            <a:off x="1676400" y="1112764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Summary</a:t>
            </a:r>
            <a:endParaRPr lang="en-CA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1D737F-70AD-7144-9EDC-63B9C22E977C}"/>
              </a:ext>
            </a:extLst>
          </p:cNvPr>
          <p:cNvSpPr txBox="1"/>
          <p:nvPr/>
        </p:nvSpPr>
        <p:spPr>
          <a:xfrm>
            <a:off x="4908834" y="1348472"/>
            <a:ext cx="70730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Ontario benefits relative to the Prairies given the highest possible coverage level in Ontario is </a:t>
            </a:r>
            <a:r>
              <a:rPr lang="en-US" b="1" dirty="0"/>
              <a:t>90%.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 SK, AB and MB – the standard coverage stops at </a:t>
            </a:r>
            <a:r>
              <a:rPr lang="en-US" b="1" dirty="0"/>
              <a:t>80%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Niche programs exist throughout the Prairies, for which Ontario does not have an equivalent program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Corn Rainfall Index Program (SK)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Corn Heat Units (SK)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Hail Insurance (MB and AB)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Fully private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Contract Price Option (MB).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none of the programs give a decisive edge over ON’s crop insurance programming.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RMP is included, it could be argued that Ontario’s per acre return on programming is the highest relative to the Prairies.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QC’s programming does marginally outperform ON – but by not more than </a:t>
            </a:r>
            <a:r>
              <a:rPr lang="en-US" b="1" dirty="0"/>
              <a:t>$10-20 per acre</a:t>
            </a:r>
            <a:r>
              <a:rPr lang="en-US" dirty="0"/>
              <a:t>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DC61E6-9E64-C33B-CA5A-E3664E69CFF1}"/>
              </a:ext>
            </a:extLst>
          </p:cNvPr>
          <p:cNvSpPr txBox="1"/>
          <p:nvPr/>
        </p:nvSpPr>
        <p:spPr>
          <a:xfrm>
            <a:off x="7283167" y="1074456"/>
            <a:ext cx="1854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Crop insurance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895705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4B067-4A88-E332-43D0-D2787EA74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B6C127E-F868-1682-9542-7F5F1BBEE514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3B63F2-E3A8-EF04-71B6-6253F51E3170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B00DF5-DD96-AF0A-B157-3E9261C03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F8D375-12CE-5054-D03D-F284D0168235}"/>
              </a:ext>
            </a:extLst>
          </p:cNvPr>
          <p:cNvSpPr txBox="1"/>
          <p:nvPr/>
        </p:nvSpPr>
        <p:spPr>
          <a:xfrm>
            <a:off x="824752" y="466165"/>
            <a:ext cx="11081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B49682-7951-D56B-F7F3-5C249DA54B46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F02740-3437-EE82-E23C-76E4178BA690}"/>
              </a:ext>
            </a:extLst>
          </p:cNvPr>
          <p:cNvSpPr txBox="1"/>
          <p:nvPr/>
        </p:nvSpPr>
        <p:spPr>
          <a:xfrm>
            <a:off x="1270536" y="1489908"/>
            <a:ext cx="97911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conclusion from this study is that US G&amp;O producers receive better BRM coverage from their programming.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effect is especially biased in the favor of US programming, when there are “bad” crop years – whether its low yields or prices.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is, however, fair to say that </a:t>
            </a:r>
            <a:r>
              <a:rPr lang="en-US" b="1" dirty="0"/>
              <a:t>without the </a:t>
            </a:r>
            <a:r>
              <a:rPr lang="en-US" dirty="0"/>
              <a:t>Title I payments and ad hoc payments in the US – BRM programming would look similar in both regions in </a:t>
            </a:r>
            <a:r>
              <a:rPr lang="en-US" b="1" dirty="0"/>
              <a:t>normal years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One of the questions that comes up – despite healthy triggers for both PLC and ARC – why the clamor for more and immediate ad hoc funding?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Similar to AgriStability in Canada the turnover time is a year.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2025 crop year payments – will only arrive </a:t>
            </a:r>
            <a:r>
              <a:rPr lang="en-US" b="1" dirty="0"/>
              <a:t>in Oct 2026. 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798987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C941F-898C-5AE3-505E-2FE4A147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09FADF-A54C-C0C1-2AF3-3FDD74A969E2}"/>
              </a:ext>
            </a:extLst>
          </p:cNvPr>
          <p:cNvSpPr/>
          <p:nvPr/>
        </p:nvSpPr>
        <p:spPr>
          <a:xfrm>
            <a:off x="0" y="6542288"/>
            <a:ext cx="12192000" cy="45719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DE67A2-B05B-91EB-6CC9-0CE254F1D36F}"/>
              </a:ext>
            </a:extLst>
          </p:cNvPr>
          <p:cNvSpPr/>
          <p:nvPr/>
        </p:nvSpPr>
        <p:spPr>
          <a:xfrm>
            <a:off x="0" y="6034756"/>
            <a:ext cx="12192000" cy="471638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568C03-5BCB-5788-A4AB-4ABC966FF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5" y="5837639"/>
            <a:ext cx="865871" cy="865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4B8BAF-237C-F34D-FC2F-C9A212222B93}"/>
              </a:ext>
            </a:extLst>
          </p:cNvPr>
          <p:cNvSpPr txBox="1"/>
          <p:nvPr/>
        </p:nvSpPr>
        <p:spPr>
          <a:xfrm>
            <a:off x="824752" y="466165"/>
            <a:ext cx="11081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InterstateCondensed" pitchFamily="2" charset="77"/>
              </a:rPr>
              <a:t>Appendix: Calculations for US programming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14E74-A6F3-0682-74E2-96ECB5E4A37D}"/>
              </a:ext>
            </a:extLst>
          </p:cNvPr>
          <p:cNvSpPr/>
          <p:nvPr/>
        </p:nvSpPr>
        <p:spPr>
          <a:xfrm flipV="1">
            <a:off x="-1" y="466162"/>
            <a:ext cx="753036" cy="977626"/>
          </a:xfrm>
          <a:prstGeom prst="rect">
            <a:avLst/>
          </a:prstGeom>
          <a:solidFill>
            <a:srgbClr val="557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11C44-9C1F-B82C-8B91-65712890E0CA}"/>
              </a:ext>
            </a:extLst>
          </p:cNvPr>
          <p:cNvSpPr txBox="1"/>
          <p:nvPr/>
        </p:nvSpPr>
        <p:spPr>
          <a:xfrm>
            <a:off x="1082943" y="4521807"/>
            <a:ext cx="10235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Resources for PLC/ARC calculations: </a:t>
            </a:r>
            <a:r>
              <a:rPr lang="en-US" sz="1200" dirty="0">
                <a:hlinkClick r:id="rId3"/>
              </a:rPr>
              <a:t>https://policydesignlab.ncsa.illinois.edu/policy-lab/proposal-analysis/arc-plc-payments</a:t>
            </a:r>
            <a:r>
              <a:rPr lang="en-US" sz="1200" dirty="0"/>
              <a:t>  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Other calculators: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Iowa: </a:t>
            </a:r>
            <a:r>
              <a:rPr lang="en-US" sz="1200" dirty="0">
                <a:hlinkClick r:id="rId4"/>
              </a:rPr>
              <a:t>ARC-CO &amp; PLC Per Acre Payment Estimator for Iowa, 2025-2026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North Dakota State Univ: </a:t>
            </a:r>
            <a:r>
              <a:rPr lang="en-US" sz="1200" dirty="0">
                <a:hlinkClick r:id="rId5"/>
              </a:rPr>
              <a:t>https://www.ndsu.edu/agriculture/ag-hub/ag-topics/crop-production/tools/arc-plc-payment-calculator</a:t>
            </a:r>
            <a:r>
              <a:rPr lang="en-US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320B2-64D0-07C6-6943-FE391BE05593}"/>
              </a:ext>
            </a:extLst>
          </p:cNvPr>
          <p:cNvSpPr txBox="1"/>
          <p:nvPr/>
        </p:nvSpPr>
        <p:spPr>
          <a:xfrm>
            <a:off x="304801" y="1640905"/>
            <a:ext cx="117850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PLC Payment = (ERP−MYA)×PLC Yield × 85% × Base Acres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ECO Indemnity = Farm Expected Crop Value × (Trigger Level−Actual County Revenue / Expected County Revenue)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 Indemnity=Expected Crop Value × (90%−Expected County Revenue/Actual County Revenue​)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ARC-CO Payment = (</a:t>
            </a:r>
            <a:r>
              <a:rPr lang="en-CA" dirty="0"/>
              <a:t>Guarantee Revenue − Actual Revenue) </a:t>
            </a:r>
            <a:r>
              <a:rPr lang="en-US" dirty="0"/>
              <a:t>× 85%  × Base Acres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44228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8351BFB-A5E2-6210-142B-B518945162A0}"/>
              </a:ext>
            </a:extLst>
          </p:cNvPr>
          <p:cNvSpPr/>
          <p:nvPr/>
        </p:nvSpPr>
        <p:spPr>
          <a:xfrm flipV="1">
            <a:off x="-2" y="0"/>
            <a:ext cx="12192002" cy="6858000"/>
          </a:xfrm>
          <a:prstGeom prst="rect">
            <a:avLst/>
          </a:prstGeom>
          <a:solidFill>
            <a:srgbClr val="7DA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970033-E459-C3A0-9C21-BFF860719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217" y="1323605"/>
            <a:ext cx="1845567" cy="1845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265C0C-74A7-C191-B7BA-66CF7668B400}"/>
              </a:ext>
            </a:extLst>
          </p:cNvPr>
          <p:cNvSpPr txBox="1"/>
          <p:nvPr/>
        </p:nvSpPr>
        <p:spPr>
          <a:xfrm>
            <a:off x="1979486" y="3429000"/>
            <a:ext cx="82330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InterstateCondensed" pitchFamily="2" charset="77"/>
              </a:rPr>
              <a:t>Questions?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A3260-D7DD-7187-1FB3-59820BC2F830}"/>
              </a:ext>
            </a:extLst>
          </p:cNvPr>
          <p:cNvSpPr txBox="1"/>
          <p:nvPr/>
        </p:nvSpPr>
        <p:spPr>
          <a:xfrm>
            <a:off x="3845859" y="4704491"/>
            <a:ext cx="45002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buNone/>
            </a:pPr>
            <a:r>
              <a:rPr lang="en-US" altLang="en-US" sz="1400" dirty="0">
                <a:solidFill>
                  <a:schemeClr val="bg1"/>
                </a:solidFill>
                <a:latin typeface="InterstateCondensed Light" pitchFamily="2" charset="77"/>
              </a:rPr>
              <a:t>Grain Farmers of Ontario</a:t>
            </a:r>
          </a:p>
          <a:p>
            <a:pPr algn="ctr" eaLnBrk="1" hangingPunct="1">
              <a:buNone/>
            </a:pPr>
            <a:endParaRPr lang="en-US" altLang="en-US" sz="1400" dirty="0">
              <a:solidFill>
                <a:schemeClr val="bg1"/>
              </a:solidFill>
              <a:latin typeface="InterstateCondensed Light" pitchFamily="2" charset="77"/>
            </a:endParaRPr>
          </a:p>
          <a:p>
            <a:pPr algn="ctr" eaLnBrk="1" hangingPunct="1">
              <a:buNone/>
            </a:pPr>
            <a:r>
              <a:rPr lang="en-US" altLang="en-US" sz="1400" dirty="0">
                <a:solidFill>
                  <a:schemeClr val="bg1"/>
                </a:solidFill>
                <a:latin typeface="InterstateCondensed Light" pitchFamily="2" charset="77"/>
              </a:rPr>
              <a:t>679 Southgate Drive Guelph, ON N1G 4S2</a:t>
            </a:r>
          </a:p>
          <a:p>
            <a:pPr algn="ctr" eaLnBrk="1" hangingPunct="1">
              <a:buNone/>
            </a:pPr>
            <a:r>
              <a:rPr lang="en-US" altLang="en-US" sz="1400" dirty="0">
                <a:solidFill>
                  <a:schemeClr val="bg1"/>
                </a:solidFill>
                <a:latin typeface="InterstateCondensed Light" pitchFamily="2" charset="77"/>
              </a:rPr>
              <a:t>519-767-6537 or 1 800-265-0550</a:t>
            </a:r>
          </a:p>
        </p:txBody>
      </p:sp>
    </p:spTree>
    <p:extLst>
      <p:ext uri="{BB962C8B-B14F-4D97-AF65-F5344CB8AC3E}">
        <p14:creationId xmlns:p14="http://schemas.microsoft.com/office/powerpoint/2010/main" val="4208178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d4bbd9-86ba-404d-be0b-6c1bcd9c841d" xsi:nil="true"/>
    <lcf76f155ced4ddcb4097134ff3c332f xmlns="3d4b185b-54cc-4c52-8b41-8909371bee30">
      <Terms xmlns="http://schemas.microsoft.com/office/infopath/2007/PartnerControls"/>
    </lcf76f155ced4ddcb4097134ff3c332f>
    <i726d0a2922a47f1a3a052d63edc478c xmlns="3d4b185b-54cc-4c52-8b41-8909371bee30">
      <Terms xmlns="http://schemas.microsoft.com/office/infopath/2007/PartnerControls"/>
    </i726d0a2922a47f1a3a052d63edc478c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1FF0DB862C874C888C0E1734DDDC4B" ma:contentTypeVersion="19" ma:contentTypeDescription="Create a new document." ma:contentTypeScope="" ma:versionID="03c9e8cb0bdc4504567aa8bb6ef22aa9">
  <xsd:schema xmlns:xsd="http://www.w3.org/2001/XMLSchema" xmlns:xs="http://www.w3.org/2001/XMLSchema" xmlns:p="http://schemas.microsoft.com/office/2006/metadata/properties" xmlns:ns2="3d4b185b-54cc-4c52-8b41-8909371bee30" xmlns:ns3="80d4bbd9-86ba-404d-be0b-6c1bcd9c841d" targetNamespace="http://schemas.microsoft.com/office/2006/metadata/properties" ma:root="true" ma:fieldsID="e8e12961cf276c638a05d636fa9396e1" ns2:_="" ns3:_="">
    <xsd:import namespace="3d4b185b-54cc-4c52-8b41-8909371bee30"/>
    <xsd:import namespace="80d4bbd9-86ba-404d-be0b-6c1bcd9c84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i726d0a2922a47f1a3a052d63edc478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4b185b-54cc-4c52-8b41-8909371bee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default="" ma:fieldId="{5cf76f15-5ced-4ddc-b409-7134ff3c332f}" ma:taxonomyMulti="true" ma:sspId="d9125848-247a-42fb-a483-1fad23fe1c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0" nillable="true" ma:displayName="Location" ma:description="" ma:hidden="true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i726d0a2922a47f1a3a052d63edc478c" ma:index="23" nillable="true" ma:taxonomy="true" ma:internalName="i726d0a2922a47f1a3a052d63edc478c" ma:taxonomyFieldName="Metadata" ma:displayName="Metadata" ma:default="" ma:fieldId="{2726d0a2-922a-47f1-a3a0-52d63edc478c}" ma:taxonomyMulti="true" ma:sspId="d9125848-247a-42fb-a483-1fad23fe1c62" ma:termSetId="2992db4c-e898-4d15-9e71-a9ae74389ecb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d4bbd9-86ba-404d-be0b-6c1bcd9c841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ac21ed9-63e5-43d2-8ce4-9fecfefe7747}" ma:internalName="TaxCatchAll" ma:readOnly="false" ma:showField="CatchAllData" ma:web="80d4bbd9-86ba-404d-be0b-6c1bcd9c84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883BB2-5163-4A88-B48F-BEBFAD6F57D1}">
  <ds:schemaRefs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3d4b185b-54cc-4c52-8b41-8909371bee30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0d4bbd9-86ba-404d-be0b-6c1bcd9c841d"/>
  </ds:schemaRefs>
</ds:datastoreItem>
</file>

<file path=customXml/itemProps2.xml><?xml version="1.0" encoding="utf-8"?>
<ds:datastoreItem xmlns:ds="http://schemas.openxmlformats.org/officeDocument/2006/customXml" ds:itemID="{1D3D5D72-3289-4349-8DAF-8138B492B7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4b185b-54cc-4c52-8b41-8909371bee30"/>
    <ds:schemaRef ds:uri="80d4bbd9-86ba-404d-be0b-6c1bcd9c84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58C5CE-F7DC-4C9B-A179-F13D747F8C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4549</TotalTime>
  <Words>3196</Words>
  <Application>Microsoft Office PowerPoint</Application>
  <PresentationFormat>Widescreen</PresentationFormat>
  <Paragraphs>522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Interstate</vt:lpstr>
      <vt:lpstr>Interstate Black</vt:lpstr>
      <vt:lpstr>InterstateCondensed</vt:lpstr>
      <vt:lpstr>InterstateCondensed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Koopstra</dc:creator>
  <cp:lastModifiedBy>Sankalp Sharma</cp:lastModifiedBy>
  <cp:revision>33</cp:revision>
  <dcterms:created xsi:type="dcterms:W3CDTF">2024-08-01T13:48:27Z</dcterms:created>
  <dcterms:modified xsi:type="dcterms:W3CDTF">2025-10-08T18:01:06Z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0x010100171FF0DB862C874C888C0E1734DDDC4B</vt:lpwstr>
  </property>
</Properties>
</file>